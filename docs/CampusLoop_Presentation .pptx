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4" r:id="rId15"/>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265BB75-5B35-D45C-405F-EAEB83E9DB94}">
          <p14:sldIdLst>
            <p14:sldId id="256"/>
          </p14:sldIdLst>
        </p14:section>
        <p14:section name="Background" id="{9B815F3F-D7D0-9864-7BA5-F37B9D6053AC}">
          <p14:sldIdLst>
            <p14:sldId id="257"/>
            <p14:sldId id="258"/>
            <p14:sldId id="259"/>
          </p14:sldIdLst>
        </p14:section>
        <p14:section name="Solution" id="{7EDD0AFA-AF0D-9E76-E268-54FA77F2D85D}">
          <p14:sldIdLst>
            <p14:sldId id="260"/>
            <p14:sldId id="261"/>
            <p14:sldId id="262"/>
          </p14:sldIdLst>
        </p14:section>
        <p14:section name="Close" id="{72F43821-D0F4-B3CD-EC80-5FE63642275E}">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6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9227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team. Replace the name and roll number placeholders in the table.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 your own words how students lose things on campus and why a single platform helps.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information is scattered across groups and word of mouth. A common system fixes that.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objectives briefly.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Frontend: React JS. Backend: Node.js with Express JS. Database: TiDB Cloud (MySQL-compatible). Images are stored in Cloudinary. REST APIs connect the frontend and backend. The frontend is hosted on GitHub Pages and the backend on Render.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flow: students log in, report an item with an image, details go to TiDB Cloud and the image to Cloudinary, students browse and search, the admin manages reports, and the status is updated once the item is returned.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screenshot of your running application in the placeholder box.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and thank the faculty.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Walk through the key features: student and admin logins, reporting with images, browsing and searching, and admin tools to mark items as returned or delete reports.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_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548640" y="457200"/>
            <a:ext cx="5303520" cy="86868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4" name="Text 1"/>
          <p:cNvSpPr>
            <a:spLocks noGrp="1"/>
          </p:cNvSpPr>
          <p:nvPr>
            <p:ph type="body" idx="102" hasCustomPrompt="1"/>
          </p:nvPr>
        </p:nvSpPr>
        <p:spPr>
          <a:xfrm>
            <a:off x="548640" y="1325880"/>
            <a:ext cx="5303520" cy="68580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_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3" name="Text 0"/>
          <p:cNvSpPr txBox="1"/>
          <p:nvPr/>
        </p:nvSpPr>
        <p:spPr>
          <a:xfrm>
            <a:off x="548640" y="4709160"/>
            <a:ext cx="5486400" cy="274320"/>
          </a:xfrm>
          <a:prstGeom prst="rect">
            <a:avLst/>
          </a:prstGeom>
          <a:noFill/>
          <a:ln/>
        </p:spPr>
        <p:txBody>
          <a:bodyPr wrap="square" lIns="0" tIns="0" rIns="0" bIns="0" rtlCol="0" anchor="ctr"/>
          <a:lstStyle/>
          <a:p>
            <a:pPr marL="0" indent="0">
              <a:buNone/>
            </a:pPr>
            <a:r>
              <a:rPr lang="en-US" sz="1000" dirty="0">
                <a:solidFill>
                  <a:srgbClr val="6B7C85"/>
                </a:solidFill>
              </a:rPr>
              <a:t>CampusLoop  |  NBKR Institute of Science and Technology</a:t>
            </a:r>
            <a:endParaRPr lang="en-US" sz="10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85"/>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_CLOSIN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548640" y="548640"/>
            <a:ext cx="5303520" cy="7315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1"/>
          <p:cNvSpPr>
            <a:spLocks noGrp="1"/>
          </p:cNvSpPr>
          <p:nvPr>
            <p:ph type="body" idx="102" hasCustomPrompt="1"/>
          </p:nvPr>
        </p:nvSpPr>
        <p:spPr>
          <a:xfrm>
            <a:off x="548640" y="1463040"/>
            <a:ext cx="5303520" cy="173736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8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7.png"/><Relationship Id="rId8"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57200"/>
            <a:ext cx="5303520" cy="868680"/>
          </a:xfrm>
          <a:prstGeom prst="rect">
            <a:avLst/>
          </a:prstGeom>
          <a:noFill/>
          <a:ln/>
        </p:spPr>
        <p:txBody>
          <a:bodyPr wrap="square" lIns="0" tIns="0" rIns="0" bIns="0" rtlCol="0" anchor="ctr"/>
          <a:lstStyle/>
          <a:p>
            <a:pPr marL="0" indent="0" algn="l">
              <a:buNone/>
            </a:pPr>
            <a:r>
              <a:rPr lang="en-US" sz="4800" b="1" dirty="0" err="1">
                <a:solidFill>
                  <a:schemeClr val="bg1"/>
                </a:solidFill>
              </a:rPr>
              <a:t>CampusLoop</a:t>
            </a:r>
            <a:endParaRPr lang="en-US" sz="4800" dirty="0"/>
          </a:p>
        </p:txBody>
      </p:sp>
      <p:sp>
        <p:nvSpPr>
          <p:cNvPr id="3" name="Text 1"/>
          <p:cNvSpPr>
            <a:spLocks noGrp="1"/>
          </p:cNvSpPr>
          <p:nvPr>
            <p:ph type="body" idx="102" hasCustomPrompt="1"/>
          </p:nvPr>
        </p:nvSpPr>
        <p:spPr>
          <a:xfrm>
            <a:off x="548640" y="1325880"/>
            <a:ext cx="5303520" cy="685800"/>
          </a:xfrm>
          <a:prstGeom prst="rect">
            <a:avLst/>
          </a:prstGeom>
          <a:noFill/>
          <a:ln/>
        </p:spPr>
        <p:txBody>
          <a:bodyPr wrap="square" lIns="0" tIns="0" rIns="0" bIns="0" rtlCol="0" anchor="t"/>
          <a:lstStyle/>
          <a:p>
            <a:pPr marL="0" indent="0" algn="l">
              <a:buNone/>
            </a:pPr>
            <a:r>
              <a:rPr lang="en-US" sz="1800" dirty="0">
                <a:solidFill>
                  <a:schemeClr val="bg2"/>
                </a:solidFill>
              </a:rPr>
              <a:t>Campus Lost and Found Management System</a:t>
            </a:r>
          </a:p>
          <a:p>
            <a:pPr marL="0" indent="0" algn="l">
              <a:buNone/>
            </a:pPr>
            <a:endParaRPr lang="en-US" dirty="0"/>
          </a:p>
          <a:p>
            <a:pPr marL="0" indent="0" algn="l">
              <a:buNone/>
            </a:pPr>
            <a:endParaRPr lang="en-US" sz="1800" dirty="0"/>
          </a:p>
          <a:p>
            <a:pPr marL="0" indent="0" algn="l">
              <a:buNone/>
            </a:pPr>
            <a:r>
              <a:rPr lang="en-US" u="sng" dirty="0">
                <a:solidFill>
                  <a:schemeClr val="accent2">
                    <a:lumMod val="75000"/>
                  </a:schemeClr>
                </a:solidFill>
              </a:rPr>
              <a:t>Presented by</a:t>
            </a:r>
          </a:p>
          <a:p>
            <a:pPr marL="0" indent="0" algn="l">
              <a:buNone/>
            </a:pPr>
            <a:r>
              <a:rPr lang="en-US" dirty="0"/>
              <a:t>M. Mokshitha    - 24KB105AC</a:t>
            </a:r>
          </a:p>
          <a:p>
            <a:pPr marL="0" indent="0" algn="l">
              <a:buNone/>
            </a:pPr>
            <a:r>
              <a:rPr lang="en-US" dirty="0"/>
              <a:t>U. Guru Nikitha - 24KB1A05LV</a:t>
            </a:r>
          </a:p>
          <a:p>
            <a:pPr marL="0" indent="0" algn="l">
              <a:buNone/>
            </a:pPr>
            <a:r>
              <a:rPr lang="en-US" dirty="0"/>
              <a:t>K. Leelavathi      - 24KB1A05T8</a:t>
            </a:r>
          </a:p>
          <a:p>
            <a:pPr marL="0" indent="0" algn="l">
              <a:buNone/>
            </a:pPr>
            <a:r>
              <a:rPr lang="en-US" dirty="0"/>
              <a:t>M. Hasini            - 24KB1A05Z8</a:t>
            </a:r>
          </a:p>
          <a:p>
            <a:pPr marL="0" indent="0" algn="l">
              <a:buNone/>
            </a:pPr>
            <a:endParaRPr lang="en-US" dirty="0"/>
          </a:p>
          <a:p>
            <a:pPr marL="0" indent="0" algn="l">
              <a:buNone/>
            </a:pPr>
            <a:endParaRPr lang="en-US" sz="1800" dirty="0"/>
          </a:p>
          <a:p>
            <a:pPr marL="0" indent="0" algn="l">
              <a:buNone/>
            </a:pPr>
            <a:endParaRPr lang="en-US" sz="1800" dirty="0"/>
          </a:p>
        </p:txBody>
      </p:sp>
      <p:sp>
        <p:nvSpPr>
          <p:cNvPr id="5" name="Guide and College"/>
          <p:cNvSpPr txBox="1"/>
          <p:nvPr/>
        </p:nvSpPr>
        <p:spPr>
          <a:xfrm>
            <a:off x="457200" y="4560570"/>
            <a:ext cx="6814458" cy="662940"/>
          </a:xfrm>
          <a:prstGeom prst="rect">
            <a:avLst/>
          </a:prstGeom>
          <a:noFill/>
          <a:ln/>
        </p:spPr>
        <p:txBody>
          <a:bodyPr wrap="square" lIns="0" tIns="0" rIns="0" bIns="0" rtlCol="0" anchor="t"/>
          <a:lstStyle/>
          <a:p>
            <a:pPr marL="0" indent="0">
              <a:buNone/>
            </a:pPr>
            <a:r>
              <a:rPr lang="en-US" sz="1400" dirty="0">
                <a:solidFill>
                  <a:schemeClr val="accent6">
                    <a:lumMod val="40000"/>
                    <a:lumOff val="60000"/>
                  </a:schemeClr>
                </a:solidFill>
              </a:rPr>
              <a:t>III BTECH |CSE - D | NBKR INSTITUTE OF SCIENCE AND TECHNOLOGY</a:t>
            </a:r>
          </a:p>
        </p:txBody>
      </p:sp>
      <p:sp>
        <p:nvSpPr>
          <p:cNvPr id="6" name="Outer Ring"/>
          <p:cNvSpPr/>
          <p:nvPr/>
        </p:nvSpPr>
        <p:spPr>
          <a:xfrm>
            <a:off x="5989320" y="914400"/>
            <a:ext cx="2743200" cy="2743200"/>
          </a:xfrm>
          <a:prstGeom prst="ellipse">
            <a:avLst/>
          </a:prstGeom>
          <a:solidFill>
            <a:schemeClr val="tx2"/>
          </a:solidFill>
          <a:ln w="31750">
            <a:solidFill>
              <a:schemeClr val="accent2"/>
            </a:solidFill>
            <a:prstDash val="solid"/>
          </a:ln>
        </p:spPr>
      </p:sp>
      <p:sp>
        <p:nvSpPr>
          <p:cNvPr id="7" name="Icon Circle"/>
          <p:cNvSpPr/>
          <p:nvPr/>
        </p:nvSpPr>
        <p:spPr>
          <a:xfrm>
            <a:off x="6355080" y="1280160"/>
            <a:ext cx="2011680" cy="2011680"/>
          </a:xfrm>
          <a:prstGeom prst="ellipse">
            <a:avLst/>
          </a:prstGeom>
          <a:solidFill>
            <a:schemeClr val="accent1"/>
          </a:solidFill>
          <a:ln/>
        </p:spPr>
      </p:sp>
      <p:pic>
        <p:nvPicPr>
          <p:cNvPr id="8" name="Image 0" descr="Search location icon"/>
          <p:cNvPicPr>
            <a:picLocks noChangeAspect="1"/>
          </p:cNvPicPr>
          <p:nvPr/>
        </p:nvPicPr>
        <p:blipFill>
          <a:blip r:embed="rId3"/>
          <a:stretch>
            <a:fillRect/>
          </a:stretch>
        </p:blipFill>
        <p:spPr>
          <a:xfrm>
            <a:off x="6876288" y="180136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600" b="1" dirty="0">
                <a:solidFill>
                  <a:schemeClr val="tx2"/>
                </a:solidFill>
              </a:rPr>
              <a:t>Introduction</a:t>
            </a:r>
            <a:endParaRPr lang="en-US" sz="3600" dirty="0"/>
          </a:p>
        </p:txBody>
      </p:sp>
      <p:sp>
        <p:nvSpPr>
          <p:cNvPr id="4" name="Intro icon 1 Circle"/>
          <p:cNvSpPr/>
          <p:nvPr/>
        </p:nvSpPr>
        <p:spPr>
          <a:xfrm>
            <a:off x="548640" y="1417320"/>
            <a:ext cx="548640" cy="548640"/>
          </a:xfrm>
          <a:prstGeom prst="ellipse">
            <a:avLst/>
          </a:prstGeom>
          <a:solidFill>
            <a:schemeClr val="bg2"/>
          </a:solidFill>
          <a:ln/>
        </p:spPr>
      </p:sp>
      <p:pic>
        <p:nvPicPr>
          <p:cNvPr id="5" name="Image 0" descr="Intro icon 1"/>
          <p:cNvPicPr>
            <a:picLocks noChangeAspect="1"/>
          </p:cNvPicPr>
          <p:nvPr/>
        </p:nvPicPr>
        <p:blipFill>
          <a:blip r:embed="rId3"/>
          <a:stretch>
            <a:fillRect/>
          </a:stretch>
        </p:blipFill>
        <p:spPr>
          <a:xfrm>
            <a:off x="685800" y="1554480"/>
            <a:ext cx="274320" cy="274320"/>
          </a:xfrm>
          <a:prstGeom prst="rect">
            <a:avLst/>
          </a:prstGeom>
        </p:spPr>
      </p:pic>
      <p:sp>
        <p:nvSpPr>
          <p:cNvPr id="6" name="Intro text 1"/>
          <p:cNvSpPr txBox="1"/>
          <p:nvPr/>
        </p:nvSpPr>
        <p:spPr>
          <a:xfrm>
            <a:off x="1325880" y="1371600"/>
            <a:ext cx="4480560" cy="640080"/>
          </a:xfrm>
          <a:prstGeom prst="rect">
            <a:avLst/>
          </a:prstGeom>
          <a:noFill/>
          <a:ln/>
        </p:spPr>
        <p:txBody>
          <a:bodyPr wrap="square" lIns="0" tIns="0" rIns="0" bIns="0" rtlCol="0" anchor="ctr"/>
          <a:lstStyle/>
          <a:p>
            <a:pPr marL="0" indent="0">
              <a:buNone/>
            </a:pPr>
            <a:r>
              <a:rPr lang="en-US" sz="1600" dirty="0">
                <a:solidFill>
                  <a:schemeClr val="tx1"/>
                </a:solidFill>
              </a:rPr>
              <a:t>Students sometimes lose their belongings on campus.</a:t>
            </a:r>
            <a:endParaRPr lang="en-US" sz="1600" dirty="0"/>
          </a:p>
        </p:txBody>
      </p:sp>
      <p:sp>
        <p:nvSpPr>
          <p:cNvPr id="7" name="Intro icon 2 Circle"/>
          <p:cNvSpPr/>
          <p:nvPr/>
        </p:nvSpPr>
        <p:spPr>
          <a:xfrm>
            <a:off x="548640" y="2203704"/>
            <a:ext cx="548640" cy="548640"/>
          </a:xfrm>
          <a:prstGeom prst="ellipse">
            <a:avLst/>
          </a:prstGeom>
          <a:solidFill>
            <a:schemeClr val="bg2"/>
          </a:solidFill>
          <a:ln/>
        </p:spPr>
      </p:sp>
      <p:pic>
        <p:nvPicPr>
          <p:cNvPr id="8" name="Image 1" descr="Intro icon 2"/>
          <p:cNvPicPr>
            <a:picLocks noChangeAspect="1"/>
          </p:cNvPicPr>
          <p:nvPr/>
        </p:nvPicPr>
        <p:blipFill>
          <a:blip r:embed="rId4"/>
          <a:stretch>
            <a:fillRect/>
          </a:stretch>
        </p:blipFill>
        <p:spPr>
          <a:xfrm>
            <a:off x="685800" y="2340864"/>
            <a:ext cx="274320" cy="274320"/>
          </a:xfrm>
          <a:prstGeom prst="rect">
            <a:avLst/>
          </a:prstGeom>
        </p:spPr>
      </p:pic>
      <p:sp>
        <p:nvSpPr>
          <p:cNvPr id="9" name="Intro text 2"/>
          <p:cNvSpPr txBox="1"/>
          <p:nvPr/>
        </p:nvSpPr>
        <p:spPr>
          <a:xfrm>
            <a:off x="1325880" y="2157984"/>
            <a:ext cx="4480560" cy="640080"/>
          </a:xfrm>
          <a:prstGeom prst="rect">
            <a:avLst/>
          </a:prstGeom>
          <a:noFill/>
          <a:ln/>
        </p:spPr>
        <p:txBody>
          <a:bodyPr wrap="square" lIns="0" tIns="0" rIns="0" bIns="0" rtlCol="0" anchor="ctr"/>
          <a:lstStyle/>
          <a:p>
            <a:pPr marL="0" indent="0">
              <a:buNone/>
            </a:pPr>
            <a:r>
              <a:rPr lang="en-US" sz="1600" dirty="0">
                <a:solidFill>
                  <a:schemeClr val="tx1"/>
                </a:solidFill>
              </a:rPr>
              <a:t>Finding them is hard when there is no common place to report them.</a:t>
            </a:r>
            <a:endParaRPr lang="en-US" sz="1600" dirty="0"/>
          </a:p>
        </p:txBody>
      </p:sp>
      <p:sp>
        <p:nvSpPr>
          <p:cNvPr id="10" name="Intro icon 3 Circle"/>
          <p:cNvSpPr/>
          <p:nvPr/>
        </p:nvSpPr>
        <p:spPr>
          <a:xfrm>
            <a:off x="548640" y="2990088"/>
            <a:ext cx="548640" cy="548640"/>
          </a:xfrm>
          <a:prstGeom prst="ellipse">
            <a:avLst/>
          </a:prstGeom>
          <a:solidFill>
            <a:schemeClr val="bg2"/>
          </a:solidFill>
          <a:ln/>
        </p:spPr>
      </p:sp>
      <p:pic>
        <p:nvPicPr>
          <p:cNvPr id="11" name="Image 2" descr="Intro icon 3"/>
          <p:cNvPicPr>
            <a:picLocks noChangeAspect="1"/>
          </p:cNvPicPr>
          <p:nvPr/>
        </p:nvPicPr>
        <p:blipFill>
          <a:blip r:embed="rId5"/>
          <a:stretch>
            <a:fillRect/>
          </a:stretch>
        </p:blipFill>
        <p:spPr>
          <a:xfrm>
            <a:off x="685800" y="3127248"/>
            <a:ext cx="274320" cy="274320"/>
          </a:xfrm>
          <a:prstGeom prst="rect">
            <a:avLst/>
          </a:prstGeom>
        </p:spPr>
      </p:pic>
      <p:sp>
        <p:nvSpPr>
          <p:cNvPr id="12" name="Intro text 3"/>
          <p:cNvSpPr txBox="1"/>
          <p:nvPr/>
        </p:nvSpPr>
        <p:spPr>
          <a:xfrm>
            <a:off x="1325880" y="2944368"/>
            <a:ext cx="4480560" cy="640080"/>
          </a:xfrm>
          <a:prstGeom prst="rect">
            <a:avLst/>
          </a:prstGeom>
          <a:noFill/>
          <a:ln/>
        </p:spPr>
        <p:txBody>
          <a:bodyPr wrap="square" lIns="0" tIns="0" rIns="0" bIns="0" rtlCol="0" anchor="ctr"/>
          <a:lstStyle/>
          <a:p>
            <a:pPr marL="0" indent="0">
              <a:buNone/>
            </a:pPr>
            <a:r>
              <a:rPr lang="en-US" sz="1600" dirty="0">
                <a:solidFill>
                  <a:schemeClr val="tx1"/>
                </a:solidFill>
              </a:rPr>
              <a:t>CampusLoop is a web application to report and find lost items.</a:t>
            </a:r>
            <a:endParaRPr lang="en-US" sz="1600" dirty="0"/>
          </a:p>
        </p:txBody>
      </p:sp>
      <p:sp>
        <p:nvSpPr>
          <p:cNvPr id="13" name="Intro icon 4 Circle"/>
          <p:cNvSpPr/>
          <p:nvPr/>
        </p:nvSpPr>
        <p:spPr>
          <a:xfrm>
            <a:off x="548640" y="3776472"/>
            <a:ext cx="548640" cy="548640"/>
          </a:xfrm>
          <a:prstGeom prst="ellipse">
            <a:avLst/>
          </a:prstGeom>
          <a:solidFill>
            <a:schemeClr val="bg2"/>
          </a:solidFill>
          <a:ln/>
        </p:spPr>
      </p:sp>
      <p:pic>
        <p:nvPicPr>
          <p:cNvPr id="14" name="Image 3" descr="Intro icon 4"/>
          <p:cNvPicPr>
            <a:picLocks noChangeAspect="1"/>
          </p:cNvPicPr>
          <p:nvPr/>
        </p:nvPicPr>
        <p:blipFill>
          <a:blip r:embed="rId6"/>
          <a:stretch>
            <a:fillRect/>
          </a:stretch>
        </p:blipFill>
        <p:spPr>
          <a:xfrm>
            <a:off x="685800" y="3913632"/>
            <a:ext cx="274320" cy="274320"/>
          </a:xfrm>
          <a:prstGeom prst="rect">
            <a:avLst/>
          </a:prstGeom>
        </p:spPr>
      </p:pic>
      <p:sp>
        <p:nvSpPr>
          <p:cNvPr id="15" name="Intro text 4"/>
          <p:cNvSpPr txBox="1"/>
          <p:nvPr/>
        </p:nvSpPr>
        <p:spPr>
          <a:xfrm>
            <a:off x="1325880" y="3730752"/>
            <a:ext cx="4480560" cy="640080"/>
          </a:xfrm>
          <a:prstGeom prst="rect">
            <a:avLst/>
          </a:prstGeom>
          <a:noFill/>
          <a:ln/>
        </p:spPr>
        <p:txBody>
          <a:bodyPr wrap="square" lIns="0" tIns="0" rIns="0" bIns="0" rtlCol="0" anchor="ctr"/>
          <a:lstStyle/>
          <a:p>
            <a:pPr marL="0" indent="0">
              <a:buNone/>
            </a:pPr>
            <a:r>
              <a:rPr lang="en-US" sz="1600" dirty="0">
                <a:solidFill>
                  <a:schemeClr val="tx1"/>
                </a:solidFill>
              </a:rPr>
              <a:t>It provides a single platform to manage lost and found items.</a:t>
            </a:r>
            <a:endParaRPr lang="en-US" sz="1600" dirty="0"/>
          </a:p>
        </p:txBody>
      </p:sp>
      <p:sp>
        <p:nvSpPr>
          <p:cNvPr id="16" name="Callout Card"/>
          <p:cNvSpPr/>
          <p:nvPr/>
        </p:nvSpPr>
        <p:spPr>
          <a:xfrm>
            <a:off x="6217920" y="1371600"/>
            <a:ext cx="2377440" cy="3017520"/>
          </a:xfrm>
          <a:prstGeom prst="roundRect">
            <a:avLst>
              <a:gd name="adj" fmla="val 3846"/>
            </a:avLst>
          </a:prstGeom>
          <a:solidFill>
            <a:schemeClr val="accent1"/>
          </a:solidFill>
          <a:ln/>
        </p:spPr>
      </p:sp>
      <p:pic>
        <p:nvPicPr>
          <p:cNvPr id="17" name="Image 4" descr="Search location icon"/>
          <p:cNvPicPr>
            <a:picLocks noChangeAspect="1"/>
          </p:cNvPicPr>
          <p:nvPr/>
        </p:nvPicPr>
        <p:blipFill>
          <a:blip r:embed="rId7"/>
          <a:stretch>
            <a:fillRect/>
          </a:stretch>
        </p:blipFill>
        <p:spPr>
          <a:xfrm>
            <a:off x="6995160" y="1691640"/>
            <a:ext cx="822960" cy="822960"/>
          </a:xfrm>
          <a:prstGeom prst="rect">
            <a:avLst/>
          </a:prstGeom>
        </p:spPr>
      </p:pic>
      <p:sp>
        <p:nvSpPr>
          <p:cNvPr id="18" name="Callout Text"/>
          <p:cNvSpPr txBox="1"/>
          <p:nvPr/>
        </p:nvSpPr>
        <p:spPr>
          <a:xfrm>
            <a:off x="6400800" y="2697480"/>
            <a:ext cx="2011680" cy="1463040"/>
          </a:xfrm>
          <a:prstGeom prst="rect">
            <a:avLst/>
          </a:prstGeom>
          <a:noFill/>
          <a:ln/>
        </p:spPr>
        <p:txBody>
          <a:bodyPr wrap="square" lIns="0" tIns="0" rIns="0" bIns="0" rtlCol="0" anchor="t"/>
          <a:lstStyle/>
          <a:p>
            <a:pPr marL="0" indent="0">
              <a:buNone/>
            </a:pPr>
            <a:r>
              <a:rPr lang="en-US" sz="2400" b="1" dirty="0">
                <a:solidFill>
                  <a:schemeClr val="bg1"/>
                </a:solidFill>
              </a:rPr>
              <a:t>Report.</a:t>
            </a:r>
            <a:endParaRPr lang="en-US" sz="2400" dirty="0"/>
          </a:p>
          <a:p>
            <a:pPr marL="0" indent="0">
              <a:buNone/>
            </a:pPr>
            <a:r>
              <a:rPr lang="en-US" sz="2400" b="1" dirty="0">
                <a:solidFill>
                  <a:schemeClr val="bg1"/>
                </a:solidFill>
              </a:rPr>
              <a:t>Search.</a:t>
            </a:r>
            <a:endParaRPr lang="en-US" sz="2400" dirty="0"/>
          </a:p>
          <a:p>
            <a:pPr marL="0" indent="0">
              <a:buNone/>
            </a:pPr>
            <a:r>
              <a:rPr lang="en-US" sz="2400" b="1" dirty="0">
                <a:solidFill>
                  <a:schemeClr val="bg1"/>
                </a:solidFill>
              </a:rPr>
              <a:t>Recover.</a:t>
            </a:r>
            <a:endParaRPr lang="en-US" sz="24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85"/>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600" b="1" dirty="0">
                <a:solidFill>
                  <a:schemeClr val="tx2"/>
                </a:solidFill>
              </a:rPr>
              <a:t>Problem Statement</a:t>
            </a:r>
            <a:endParaRPr lang="en-US" sz="3600" dirty="0"/>
          </a:p>
        </p:txBody>
      </p:sp>
      <p:sp>
        <p:nvSpPr>
          <p:cNvPr id="4" name="Problem Card 1"/>
          <p:cNvSpPr/>
          <p:nvPr/>
        </p:nvSpPr>
        <p:spPr>
          <a:xfrm>
            <a:off x="548640" y="1325880"/>
            <a:ext cx="3931920" cy="1463040"/>
          </a:xfrm>
          <a:prstGeom prst="roundRect">
            <a:avLst>
              <a:gd name="adj" fmla="val 6250"/>
            </a:avLst>
          </a:prstGeom>
          <a:solidFill>
            <a:schemeClr val="bg2"/>
          </a:solidFill>
          <a:ln/>
        </p:spPr>
      </p:sp>
      <p:sp>
        <p:nvSpPr>
          <p:cNvPr id="5" name="Problem icon 1 Circle"/>
          <p:cNvSpPr/>
          <p:nvPr/>
        </p:nvSpPr>
        <p:spPr>
          <a:xfrm>
            <a:off x="777240" y="1554480"/>
            <a:ext cx="594360" cy="594360"/>
          </a:xfrm>
          <a:prstGeom prst="ellipse">
            <a:avLst/>
          </a:prstGeom>
          <a:solidFill>
            <a:schemeClr val="accent1"/>
          </a:solidFill>
          <a:ln/>
        </p:spPr>
      </p:sp>
      <p:pic>
        <p:nvPicPr>
          <p:cNvPr id="6" name="Image 0" descr="Problem icon 1"/>
          <p:cNvPicPr>
            <a:picLocks noChangeAspect="1"/>
          </p:cNvPicPr>
          <p:nvPr/>
        </p:nvPicPr>
        <p:blipFill>
          <a:blip r:embed="rId3"/>
          <a:stretch>
            <a:fillRect/>
          </a:stretch>
        </p:blipFill>
        <p:spPr>
          <a:xfrm>
            <a:off x="925830" y="1703070"/>
            <a:ext cx="297180" cy="297180"/>
          </a:xfrm>
          <a:prstGeom prst="rect">
            <a:avLst/>
          </a:prstGeom>
        </p:spPr>
      </p:pic>
      <p:sp>
        <p:nvSpPr>
          <p:cNvPr id="7" name="Problem text 1"/>
          <p:cNvSpPr txBox="1"/>
          <p:nvPr/>
        </p:nvSpPr>
        <p:spPr>
          <a:xfrm>
            <a:off x="1554480" y="1463040"/>
            <a:ext cx="2788920" cy="1188720"/>
          </a:xfrm>
          <a:prstGeom prst="rect">
            <a:avLst/>
          </a:prstGeom>
          <a:noFill/>
          <a:ln/>
        </p:spPr>
        <p:txBody>
          <a:bodyPr wrap="square" lIns="0" tIns="0" rIns="0" bIns="0" rtlCol="0" anchor="ctr"/>
          <a:lstStyle/>
          <a:p>
            <a:pPr marL="0" indent="0">
              <a:buNone/>
            </a:pPr>
            <a:r>
              <a:rPr lang="en-US" sz="1800" b="1" dirty="0">
                <a:solidFill>
                  <a:schemeClr val="tx2"/>
                </a:solidFill>
              </a:rPr>
              <a:t>Scattered information</a:t>
            </a:r>
            <a:endParaRPr lang="en-US" sz="1800" dirty="0"/>
          </a:p>
          <a:p>
            <a:pPr marL="0" indent="0">
              <a:buNone/>
            </a:pPr>
            <a:r>
              <a:rPr lang="en-US" sz="1400" dirty="0">
                <a:solidFill>
                  <a:schemeClr val="tx1"/>
                </a:solidFill>
              </a:rPr>
              <a:t>Lost-item news spreads through word of mouth and separate groups.</a:t>
            </a:r>
            <a:endParaRPr lang="en-US" sz="1800" dirty="0"/>
          </a:p>
        </p:txBody>
      </p:sp>
      <p:sp>
        <p:nvSpPr>
          <p:cNvPr id="8" name="Problem Card 2"/>
          <p:cNvSpPr/>
          <p:nvPr/>
        </p:nvSpPr>
        <p:spPr>
          <a:xfrm>
            <a:off x="4663440" y="1325880"/>
            <a:ext cx="3931920" cy="1463040"/>
          </a:xfrm>
          <a:prstGeom prst="roundRect">
            <a:avLst>
              <a:gd name="adj" fmla="val 6250"/>
            </a:avLst>
          </a:prstGeom>
          <a:solidFill>
            <a:schemeClr val="bg2"/>
          </a:solidFill>
          <a:ln/>
        </p:spPr>
      </p:sp>
      <p:sp>
        <p:nvSpPr>
          <p:cNvPr id="9" name="Problem icon 2 Circle"/>
          <p:cNvSpPr/>
          <p:nvPr/>
        </p:nvSpPr>
        <p:spPr>
          <a:xfrm>
            <a:off x="4892040" y="1554480"/>
            <a:ext cx="594360" cy="594360"/>
          </a:xfrm>
          <a:prstGeom prst="ellipse">
            <a:avLst/>
          </a:prstGeom>
          <a:solidFill>
            <a:schemeClr val="accent1"/>
          </a:solidFill>
          <a:ln/>
        </p:spPr>
      </p:sp>
      <p:pic>
        <p:nvPicPr>
          <p:cNvPr id="10" name="Image 1" descr="Problem icon 2"/>
          <p:cNvPicPr>
            <a:picLocks noChangeAspect="1"/>
          </p:cNvPicPr>
          <p:nvPr/>
        </p:nvPicPr>
        <p:blipFill>
          <a:blip r:embed="rId4"/>
          <a:stretch>
            <a:fillRect/>
          </a:stretch>
        </p:blipFill>
        <p:spPr>
          <a:xfrm>
            <a:off x="5040630" y="1703070"/>
            <a:ext cx="297180" cy="297180"/>
          </a:xfrm>
          <a:prstGeom prst="rect">
            <a:avLst/>
          </a:prstGeom>
        </p:spPr>
      </p:pic>
      <p:sp>
        <p:nvSpPr>
          <p:cNvPr id="11" name="Problem text 2"/>
          <p:cNvSpPr txBox="1"/>
          <p:nvPr/>
        </p:nvSpPr>
        <p:spPr>
          <a:xfrm>
            <a:off x="5669280" y="1463040"/>
            <a:ext cx="2788920" cy="1188720"/>
          </a:xfrm>
          <a:prstGeom prst="rect">
            <a:avLst/>
          </a:prstGeom>
          <a:noFill/>
          <a:ln/>
        </p:spPr>
        <p:txBody>
          <a:bodyPr wrap="square" lIns="0" tIns="0" rIns="0" bIns="0" rtlCol="0" anchor="ctr"/>
          <a:lstStyle/>
          <a:p>
            <a:pPr marL="0" indent="0">
              <a:buNone/>
            </a:pPr>
            <a:r>
              <a:rPr lang="en-US" sz="1800" b="1" dirty="0">
                <a:solidFill>
                  <a:schemeClr val="tx2"/>
                </a:solidFill>
              </a:rPr>
              <a:t>No common place</a:t>
            </a:r>
            <a:endParaRPr lang="en-US" sz="1800" dirty="0"/>
          </a:p>
          <a:p>
            <a:pPr marL="0" indent="0">
              <a:buNone/>
            </a:pPr>
            <a:r>
              <a:rPr lang="en-US" sz="1400" dirty="0">
                <a:solidFill>
                  <a:schemeClr val="tx1"/>
                </a:solidFill>
              </a:rPr>
              <a:t>Students may not know where to check for missing belongings.</a:t>
            </a:r>
            <a:endParaRPr lang="en-US" sz="1800" dirty="0"/>
          </a:p>
        </p:txBody>
      </p:sp>
      <p:sp>
        <p:nvSpPr>
          <p:cNvPr id="12" name="Problem Card 3"/>
          <p:cNvSpPr/>
          <p:nvPr/>
        </p:nvSpPr>
        <p:spPr>
          <a:xfrm>
            <a:off x="548640" y="2971800"/>
            <a:ext cx="3931920" cy="1463040"/>
          </a:xfrm>
          <a:prstGeom prst="roundRect">
            <a:avLst>
              <a:gd name="adj" fmla="val 6250"/>
            </a:avLst>
          </a:prstGeom>
          <a:solidFill>
            <a:schemeClr val="bg2"/>
          </a:solidFill>
          <a:ln/>
        </p:spPr>
      </p:sp>
      <p:sp>
        <p:nvSpPr>
          <p:cNvPr id="13" name="Problem icon 3 Circle"/>
          <p:cNvSpPr/>
          <p:nvPr/>
        </p:nvSpPr>
        <p:spPr>
          <a:xfrm>
            <a:off x="777240" y="3200400"/>
            <a:ext cx="594360" cy="594360"/>
          </a:xfrm>
          <a:prstGeom prst="ellipse">
            <a:avLst/>
          </a:prstGeom>
          <a:solidFill>
            <a:schemeClr val="accent1"/>
          </a:solidFill>
          <a:ln/>
        </p:spPr>
      </p:sp>
      <p:pic>
        <p:nvPicPr>
          <p:cNvPr id="14" name="Image 2" descr="Problem icon 3"/>
          <p:cNvPicPr>
            <a:picLocks noChangeAspect="1"/>
          </p:cNvPicPr>
          <p:nvPr/>
        </p:nvPicPr>
        <p:blipFill>
          <a:blip r:embed="rId5"/>
          <a:stretch>
            <a:fillRect/>
          </a:stretch>
        </p:blipFill>
        <p:spPr>
          <a:xfrm>
            <a:off x="925830" y="3348990"/>
            <a:ext cx="297180" cy="297180"/>
          </a:xfrm>
          <a:prstGeom prst="rect">
            <a:avLst/>
          </a:prstGeom>
        </p:spPr>
      </p:pic>
      <p:sp>
        <p:nvSpPr>
          <p:cNvPr id="15" name="Problem text 3"/>
          <p:cNvSpPr txBox="1"/>
          <p:nvPr/>
        </p:nvSpPr>
        <p:spPr>
          <a:xfrm>
            <a:off x="1554480" y="3108960"/>
            <a:ext cx="2788920" cy="1188720"/>
          </a:xfrm>
          <a:prstGeom prst="rect">
            <a:avLst/>
          </a:prstGeom>
          <a:noFill/>
          <a:ln/>
        </p:spPr>
        <p:txBody>
          <a:bodyPr wrap="square" lIns="0" tIns="0" rIns="0" bIns="0" rtlCol="0" anchor="ctr"/>
          <a:lstStyle/>
          <a:p>
            <a:pPr marL="0" indent="0">
              <a:buNone/>
            </a:pPr>
            <a:r>
              <a:rPr lang="en-US" sz="1800" b="1" dirty="0">
                <a:solidFill>
                  <a:schemeClr val="tx2"/>
                </a:solidFill>
              </a:rPr>
              <a:t>Hard to verify</a:t>
            </a:r>
            <a:endParaRPr lang="en-US" sz="1800" dirty="0"/>
          </a:p>
          <a:p>
            <a:pPr marL="0" indent="0">
              <a:buNone/>
            </a:pPr>
            <a:r>
              <a:rPr lang="en-US" sz="1400" dirty="0">
                <a:solidFill>
                  <a:schemeClr val="tx1"/>
                </a:solidFill>
              </a:rPr>
              <a:t>It is difficult to confirm an item belongs to the person claiming it.</a:t>
            </a:r>
            <a:endParaRPr lang="en-US" sz="1800" dirty="0"/>
          </a:p>
        </p:txBody>
      </p:sp>
      <p:sp>
        <p:nvSpPr>
          <p:cNvPr id="16" name="Problem Card 4"/>
          <p:cNvSpPr/>
          <p:nvPr/>
        </p:nvSpPr>
        <p:spPr>
          <a:xfrm>
            <a:off x="4663440" y="2971800"/>
            <a:ext cx="3931920" cy="1463040"/>
          </a:xfrm>
          <a:prstGeom prst="roundRect">
            <a:avLst>
              <a:gd name="adj" fmla="val 6250"/>
            </a:avLst>
          </a:prstGeom>
          <a:solidFill>
            <a:schemeClr val="bg2"/>
          </a:solidFill>
          <a:ln/>
        </p:spPr>
      </p:sp>
      <p:sp>
        <p:nvSpPr>
          <p:cNvPr id="17" name="Problem icon 4 Circle"/>
          <p:cNvSpPr/>
          <p:nvPr/>
        </p:nvSpPr>
        <p:spPr>
          <a:xfrm>
            <a:off x="4892040" y="3200400"/>
            <a:ext cx="594360" cy="594360"/>
          </a:xfrm>
          <a:prstGeom prst="ellipse">
            <a:avLst/>
          </a:prstGeom>
          <a:solidFill>
            <a:schemeClr val="accent1"/>
          </a:solidFill>
          <a:ln/>
        </p:spPr>
      </p:sp>
      <p:pic>
        <p:nvPicPr>
          <p:cNvPr id="18" name="Image 3" descr="Problem icon 4"/>
          <p:cNvPicPr>
            <a:picLocks noChangeAspect="1"/>
          </p:cNvPicPr>
          <p:nvPr/>
        </p:nvPicPr>
        <p:blipFill>
          <a:blip r:embed="rId6"/>
          <a:stretch>
            <a:fillRect/>
          </a:stretch>
        </p:blipFill>
        <p:spPr>
          <a:xfrm>
            <a:off x="5040630" y="3348990"/>
            <a:ext cx="297180" cy="297180"/>
          </a:xfrm>
          <a:prstGeom prst="rect">
            <a:avLst/>
          </a:prstGeom>
        </p:spPr>
      </p:pic>
      <p:sp>
        <p:nvSpPr>
          <p:cNvPr id="19" name="Problem text 4"/>
          <p:cNvSpPr txBox="1"/>
          <p:nvPr/>
        </p:nvSpPr>
        <p:spPr>
          <a:xfrm>
            <a:off x="5669280" y="3108960"/>
            <a:ext cx="2788920" cy="1188720"/>
          </a:xfrm>
          <a:prstGeom prst="rect">
            <a:avLst/>
          </a:prstGeom>
          <a:noFill/>
          <a:ln/>
        </p:spPr>
        <p:txBody>
          <a:bodyPr wrap="square" lIns="0" tIns="0" rIns="0" bIns="0" rtlCol="0" anchor="ctr"/>
          <a:lstStyle/>
          <a:p>
            <a:pPr marL="0" indent="0">
              <a:buNone/>
            </a:pPr>
            <a:r>
              <a:rPr lang="en-US" sz="1800" b="1" dirty="0">
                <a:solidFill>
                  <a:schemeClr val="tx2"/>
                </a:solidFill>
              </a:rPr>
              <a:t>One system helps</a:t>
            </a:r>
            <a:endParaRPr lang="en-US" sz="1800" dirty="0"/>
          </a:p>
          <a:p>
            <a:pPr marL="0" indent="0">
              <a:buNone/>
            </a:pPr>
            <a:r>
              <a:rPr lang="en-US" sz="1400" dirty="0">
                <a:solidFill>
                  <a:schemeClr val="tx1"/>
                </a:solidFill>
              </a:rPr>
              <a:t>A common system makes the whole process easier.</a:t>
            </a:r>
            <a:endParaRPr lang="en-US" sz="18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85"/>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600" b="1" dirty="0">
                <a:solidFill>
                  <a:schemeClr val="tx2"/>
                </a:solidFill>
              </a:rPr>
              <a:t>Objectives</a:t>
            </a:r>
            <a:endParaRPr lang="en-US" sz="3600" dirty="0"/>
          </a:p>
        </p:txBody>
      </p:sp>
      <p:sp>
        <p:nvSpPr>
          <p:cNvPr id="4" name="Objective Row 1"/>
          <p:cNvSpPr/>
          <p:nvPr/>
        </p:nvSpPr>
        <p:spPr>
          <a:xfrm>
            <a:off x="548640" y="1280160"/>
            <a:ext cx="8046720" cy="566928"/>
          </a:xfrm>
          <a:prstGeom prst="roundRect">
            <a:avLst>
              <a:gd name="adj" fmla="val 16129"/>
            </a:avLst>
          </a:prstGeom>
          <a:solidFill>
            <a:schemeClr val="bg2"/>
          </a:solidFill>
          <a:ln/>
        </p:spPr>
      </p:sp>
      <p:sp>
        <p:nvSpPr>
          <p:cNvPr id="5" name="Number Circle 1"/>
          <p:cNvSpPr/>
          <p:nvPr/>
        </p:nvSpPr>
        <p:spPr>
          <a:xfrm>
            <a:off x="685800" y="1344168"/>
            <a:ext cx="438912" cy="438912"/>
          </a:xfrm>
          <a:prstGeom prst="ellipse">
            <a:avLst/>
          </a:prstGeom>
          <a:solidFill>
            <a:schemeClr val="accent2"/>
          </a:solidFill>
          <a:ln/>
        </p:spPr>
      </p:sp>
      <p:sp>
        <p:nvSpPr>
          <p:cNvPr id="6" name="Number 1"/>
          <p:cNvSpPr txBox="1"/>
          <p:nvPr/>
        </p:nvSpPr>
        <p:spPr>
          <a:xfrm>
            <a:off x="685800" y="1344168"/>
            <a:ext cx="438912" cy="438912"/>
          </a:xfrm>
          <a:prstGeom prst="rect">
            <a:avLst/>
          </a:prstGeom>
          <a:no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7" name="Objective Text 1"/>
          <p:cNvSpPr txBox="1"/>
          <p:nvPr/>
        </p:nvSpPr>
        <p:spPr>
          <a:xfrm>
            <a:off x="1325880" y="1280160"/>
            <a:ext cx="7132320" cy="566928"/>
          </a:xfrm>
          <a:prstGeom prst="rect">
            <a:avLst/>
          </a:prstGeom>
          <a:noFill/>
          <a:ln/>
        </p:spPr>
        <p:txBody>
          <a:bodyPr wrap="square" lIns="0" tIns="0" rIns="0" bIns="0" rtlCol="0" anchor="ctr"/>
          <a:lstStyle/>
          <a:p>
            <a:pPr marL="0" indent="0">
              <a:buNone/>
            </a:pPr>
            <a:r>
              <a:rPr lang="en-US" sz="1600" dirty="0">
                <a:solidFill>
                  <a:schemeClr val="tx1"/>
                </a:solidFill>
              </a:rPr>
              <a:t>Provide a common platform for lost and found items</a:t>
            </a:r>
            <a:endParaRPr lang="en-US" sz="1600" dirty="0"/>
          </a:p>
        </p:txBody>
      </p:sp>
      <p:sp>
        <p:nvSpPr>
          <p:cNvPr id="8" name="Objective Row 2"/>
          <p:cNvSpPr/>
          <p:nvPr/>
        </p:nvSpPr>
        <p:spPr>
          <a:xfrm>
            <a:off x="548640" y="1947672"/>
            <a:ext cx="8046720" cy="566928"/>
          </a:xfrm>
          <a:prstGeom prst="roundRect">
            <a:avLst>
              <a:gd name="adj" fmla="val 16129"/>
            </a:avLst>
          </a:prstGeom>
          <a:solidFill>
            <a:schemeClr val="bg2"/>
          </a:solidFill>
          <a:ln/>
        </p:spPr>
      </p:sp>
      <p:sp>
        <p:nvSpPr>
          <p:cNvPr id="9" name="Number Circle 2"/>
          <p:cNvSpPr/>
          <p:nvPr/>
        </p:nvSpPr>
        <p:spPr>
          <a:xfrm>
            <a:off x="685800" y="2011680"/>
            <a:ext cx="438912" cy="438912"/>
          </a:xfrm>
          <a:prstGeom prst="ellipse">
            <a:avLst/>
          </a:prstGeom>
          <a:solidFill>
            <a:schemeClr val="accent2"/>
          </a:solidFill>
          <a:ln/>
        </p:spPr>
      </p:sp>
      <p:sp>
        <p:nvSpPr>
          <p:cNvPr id="10" name="Number 2"/>
          <p:cNvSpPr txBox="1"/>
          <p:nvPr/>
        </p:nvSpPr>
        <p:spPr>
          <a:xfrm>
            <a:off x="685800" y="2011680"/>
            <a:ext cx="438912" cy="438912"/>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1" name="Objective Text 2"/>
          <p:cNvSpPr txBox="1"/>
          <p:nvPr/>
        </p:nvSpPr>
        <p:spPr>
          <a:xfrm>
            <a:off x="1325880" y="1947672"/>
            <a:ext cx="7132320" cy="566928"/>
          </a:xfrm>
          <a:prstGeom prst="rect">
            <a:avLst/>
          </a:prstGeom>
          <a:noFill/>
          <a:ln/>
        </p:spPr>
        <p:txBody>
          <a:bodyPr wrap="square" lIns="0" tIns="0" rIns="0" bIns="0" rtlCol="0" anchor="ctr"/>
          <a:lstStyle/>
          <a:p>
            <a:pPr marL="0" indent="0">
              <a:buNone/>
            </a:pPr>
            <a:r>
              <a:rPr lang="en-US" sz="1600" dirty="0">
                <a:solidFill>
                  <a:schemeClr val="tx1"/>
                </a:solidFill>
              </a:rPr>
              <a:t>Let users report lost or found belongings with full details</a:t>
            </a:r>
            <a:endParaRPr lang="en-US" sz="1600" dirty="0"/>
          </a:p>
        </p:txBody>
      </p:sp>
      <p:sp>
        <p:nvSpPr>
          <p:cNvPr id="12" name="Objective Row 3"/>
          <p:cNvSpPr/>
          <p:nvPr/>
        </p:nvSpPr>
        <p:spPr>
          <a:xfrm>
            <a:off x="548640" y="2615184"/>
            <a:ext cx="8046720" cy="566928"/>
          </a:xfrm>
          <a:prstGeom prst="roundRect">
            <a:avLst>
              <a:gd name="adj" fmla="val 16129"/>
            </a:avLst>
          </a:prstGeom>
          <a:solidFill>
            <a:schemeClr val="bg2"/>
          </a:solidFill>
          <a:ln/>
        </p:spPr>
      </p:sp>
      <p:sp>
        <p:nvSpPr>
          <p:cNvPr id="13" name="Number Circle 3"/>
          <p:cNvSpPr/>
          <p:nvPr/>
        </p:nvSpPr>
        <p:spPr>
          <a:xfrm>
            <a:off x="685800" y="2679192"/>
            <a:ext cx="438912" cy="438912"/>
          </a:xfrm>
          <a:prstGeom prst="ellipse">
            <a:avLst/>
          </a:prstGeom>
          <a:solidFill>
            <a:schemeClr val="accent2"/>
          </a:solidFill>
          <a:ln/>
        </p:spPr>
      </p:sp>
      <p:sp>
        <p:nvSpPr>
          <p:cNvPr id="14" name="Number 3"/>
          <p:cNvSpPr txBox="1"/>
          <p:nvPr/>
        </p:nvSpPr>
        <p:spPr>
          <a:xfrm>
            <a:off x="685800" y="2679192"/>
            <a:ext cx="438912" cy="438912"/>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5" name="Objective Text 3"/>
          <p:cNvSpPr txBox="1"/>
          <p:nvPr/>
        </p:nvSpPr>
        <p:spPr>
          <a:xfrm>
            <a:off x="1325880" y="2615184"/>
            <a:ext cx="7132320" cy="566928"/>
          </a:xfrm>
          <a:prstGeom prst="rect">
            <a:avLst/>
          </a:prstGeom>
          <a:noFill/>
          <a:ln/>
        </p:spPr>
        <p:txBody>
          <a:bodyPr wrap="square" lIns="0" tIns="0" rIns="0" bIns="0" rtlCol="0" anchor="ctr"/>
          <a:lstStyle/>
          <a:p>
            <a:pPr marL="0" indent="0">
              <a:buNone/>
            </a:pPr>
            <a:r>
              <a:rPr lang="en-US" sz="1600" dirty="0">
                <a:solidFill>
                  <a:schemeClr val="tx1"/>
                </a:solidFill>
              </a:rPr>
              <a:t>Make it easy to search and filter reported items</a:t>
            </a:r>
            <a:endParaRPr lang="en-US" sz="1600" dirty="0"/>
          </a:p>
        </p:txBody>
      </p:sp>
      <p:sp>
        <p:nvSpPr>
          <p:cNvPr id="16" name="Objective Row 4"/>
          <p:cNvSpPr/>
          <p:nvPr/>
        </p:nvSpPr>
        <p:spPr>
          <a:xfrm>
            <a:off x="548640" y="3282696"/>
            <a:ext cx="8046720" cy="566928"/>
          </a:xfrm>
          <a:prstGeom prst="roundRect">
            <a:avLst>
              <a:gd name="adj" fmla="val 16129"/>
            </a:avLst>
          </a:prstGeom>
          <a:solidFill>
            <a:schemeClr val="bg2"/>
          </a:solidFill>
          <a:ln/>
        </p:spPr>
      </p:sp>
      <p:sp>
        <p:nvSpPr>
          <p:cNvPr id="17" name="Number Circle 4"/>
          <p:cNvSpPr/>
          <p:nvPr/>
        </p:nvSpPr>
        <p:spPr>
          <a:xfrm>
            <a:off x="685800" y="3346704"/>
            <a:ext cx="438912" cy="438912"/>
          </a:xfrm>
          <a:prstGeom prst="ellipse">
            <a:avLst/>
          </a:prstGeom>
          <a:solidFill>
            <a:schemeClr val="accent2"/>
          </a:solidFill>
          <a:ln/>
        </p:spPr>
      </p:sp>
      <p:sp>
        <p:nvSpPr>
          <p:cNvPr id="18" name="Number 4"/>
          <p:cNvSpPr txBox="1"/>
          <p:nvPr/>
        </p:nvSpPr>
        <p:spPr>
          <a:xfrm>
            <a:off x="685800" y="3346704"/>
            <a:ext cx="438912" cy="438912"/>
          </a:xfrm>
          <a:prstGeom prst="rect">
            <a:avLst/>
          </a:prstGeom>
          <a:no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19" name="Objective Text 4"/>
          <p:cNvSpPr txBox="1"/>
          <p:nvPr/>
        </p:nvSpPr>
        <p:spPr>
          <a:xfrm>
            <a:off x="1325880" y="3282696"/>
            <a:ext cx="7132320" cy="566928"/>
          </a:xfrm>
          <a:prstGeom prst="rect">
            <a:avLst/>
          </a:prstGeom>
          <a:noFill/>
          <a:ln/>
        </p:spPr>
        <p:txBody>
          <a:bodyPr wrap="square" lIns="0" tIns="0" rIns="0" bIns="0" rtlCol="0" anchor="ctr"/>
          <a:lstStyle/>
          <a:p>
            <a:pPr marL="0" indent="0">
              <a:buNone/>
            </a:pPr>
            <a:r>
              <a:rPr lang="en-US" sz="1600" dirty="0">
                <a:solidFill>
                  <a:schemeClr val="tx1"/>
                </a:solidFill>
              </a:rPr>
              <a:t>Update an item's status once it has been recovered</a:t>
            </a:r>
            <a:endParaRPr lang="en-US" sz="1600" dirty="0"/>
          </a:p>
        </p:txBody>
      </p:sp>
      <p:sp>
        <p:nvSpPr>
          <p:cNvPr id="20" name="Objective Row 5"/>
          <p:cNvSpPr/>
          <p:nvPr/>
        </p:nvSpPr>
        <p:spPr>
          <a:xfrm>
            <a:off x="548640" y="3950208"/>
            <a:ext cx="8046720" cy="566928"/>
          </a:xfrm>
          <a:prstGeom prst="roundRect">
            <a:avLst>
              <a:gd name="adj" fmla="val 16129"/>
            </a:avLst>
          </a:prstGeom>
          <a:solidFill>
            <a:schemeClr val="bg2"/>
          </a:solidFill>
          <a:ln/>
        </p:spPr>
      </p:sp>
      <p:sp>
        <p:nvSpPr>
          <p:cNvPr id="21" name="Number Circle 5"/>
          <p:cNvSpPr/>
          <p:nvPr/>
        </p:nvSpPr>
        <p:spPr>
          <a:xfrm>
            <a:off x="685800" y="4014216"/>
            <a:ext cx="438912" cy="438912"/>
          </a:xfrm>
          <a:prstGeom prst="ellipse">
            <a:avLst/>
          </a:prstGeom>
          <a:solidFill>
            <a:schemeClr val="accent2"/>
          </a:solidFill>
          <a:ln/>
        </p:spPr>
      </p:sp>
      <p:sp>
        <p:nvSpPr>
          <p:cNvPr id="22" name="Number 5"/>
          <p:cNvSpPr txBox="1"/>
          <p:nvPr/>
        </p:nvSpPr>
        <p:spPr>
          <a:xfrm>
            <a:off x="685800" y="4014216"/>
            <a:ext cx="438912" cy="438912"/>
          </a:xfrm>
          <a:prstGeom prst="rect">
            <a:avLst/>
          </a:prstGeom>
          <a:noFill/>
          <a:ln/>
        </p:spPr>
        <p:txBody>
          <a:bodyPr wrap="square" lIns="0" tIns="0" rIns="0" bIns="0" rtlCol="0" anchor="ctr"/>
          <a:lstStyle/>
          <a:p>
            <a:pPr marL="0" indent="0" algn="ctr">
              <a:buNone/>
            </a:pPr>
            <a:r>
              <a:rPr lang="en-US" sz="1600" b="1" dirty="0">
                <a:solidFill>
                  <a:schemeClr val="tx1"/>
                </a:solidFill>
              </a:rPr>
              <a:t>5</a:t>
            </a:r>
            <a:endParaRPr lang="en-US" sz="1600" dirty="0"/>
          </a:p>
        </p:txBody>
      </p:sp>
      <p:sp>
        <p:nvSpPr>
          <p:cNvPr id="23" name="Objective Text 5"/>
          <p:cNvSpPr txBox="1"/>
          <p:nvPr/>
        </p:nvSpPr>
        <p:spPr>
          <a:xfrm>
            <a:off x="1325880" y="3950208"/>
            <a:ext cx="7132320" cy="566928"/>
          </a:xfrm>
          <a:prstGeom prst="rect">
            <a:avLst/>
          </a:prstGeom>
          <a:noFill/>
          <a:ln/>
        </p:spPr>
        <p:txBody>
          <a:bodyPr wrap="square" lIns="0" tIns="0" rIns="0" bIns="0" rtlCol="0" anchor="ctr"/>
          <a:lstStyle/>
          <a:p>
            <a:pPr marL="0" indent="0">
              <a:buNone/>
            </a:pPr>
            <a:r>
              <a:rPr lang="en-US" sz="1600" dirty="0">
                <a:solidFill>
                  <a:schemeClr val="tx1"/>
                </a:solidFill>
              </a:rPr>
              <a:t>Keep all item details organized in a database</a:t>
            </a:r>
            <a:endParaRPr lang="en-US" sz="16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85"/>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600" b="1" dirty="0">
                <a:solidFill>
                  <a:schemeClr val="tx2"/>
                </a:solidFill>
              </a:rPr>
              <a:t>Technologies Used</a:t>
            </a:r>
            <a:endParaRPr lang="en-US" sz="3600" dirty="0"/>
          </a:p>
        </p:txBody>
      </p:sp>
      <p:sp>
        <p:nvSpPr>
          <p:cNvPr id="11" name="Tech Card 1"/>
          <p:cNvSpPr/>
          <p:nvPr/>
        </p:nvSpPr>
        <p:spPr>
          <a:xfrm>
            <a:off x="548640" y="1325880"/>
            <a:ext cx="2560320" cy="1463040"/>
          </a:xfrm>
          <a:prstGeom prst="roundRect">
            <a:avLst>
              <a:gd name="adj" fmla="val 5000"/>
            </a:avLst>
          </a:prstGeom>
          <a:solidFill>
            <a:schemeClr val="bg2"/>
          </a:solidFill>
          <a:ln/>
        </p:spPr>
      </p:sp>
      <p:sp>
        <p:nvSpPr>
          <p:cNvPr id="12" name="Tech icon 1 Circle"/>
          <p:cNvSpPr/>
          <p:nvPr/>
        </p:nvSpPr>
        <p:spPr>
          <a:xfrm>
            <a:off x="685800" y="1426464"/>
            <a:ext cx="502920" cy="502920"/>
          </a:xfrm>
          <a:prstGeom prst="ellipse">
            <a:avLst/>
          </a:prstGeom>
          <a:solidFill>
            <a:schemeClr val="accent1"/>
          </a:solidFill>
          <a:ln/>
        </p:spPr>
      </p:sp>
      <p:pic>
        <p:nvPicPr>
          <p:cNvPr id="13" name="Image 0" descr="Tech icon 1"/>
          <p:cNvPicPr>
            <a:picLocks noChangeAspect="1"/>
          </p:cNvPicPr>
          <p:nvPr/>
        </p:nvPicPr>
        <p:blipFill>
          <a:blip r:embed="rId3"/>
          <a:stretch>
            <a:fillRect/>
          </a:stretch>
        </p:blipFill>
        <p:spPr>
          <a:xfrm>
            <a:off x="800100" y="1540764"/>
            <a:ext cx="274320" cy="274320"/>
          </a:xfrm>
          <a:prstGeom prst="rect">
            <a:avLst/>
          </a:prstGeom>
        </p:spPr>
      </p:pic>
      <p:sp>
        <p:nvSpPr>
          <p:cNvPr id="14" name="Tech Label 1"/>
          <p:cNvSpPr txBox="1"/>
          <p:nvPr/>
        </p:nvSpPr>
        <p:spPr>
          <a:xfrm>
            <a:off x="1325880" y="1426464"/>
            <a:ext cx="1645920" cy="502920"/>
          </a:xfrm>
          <a:prstGeom prst="rect">
            <a:avLst/>
          </a:prstGeom>
          <a:noFill/>
          <a:ln/>
        </p:spPr>
        <p:txBody>
          <a:bodyPr wrap="square" lIns="0" tIns="0" rIns="0" bIns="0" rtlCol="0" anchor="ctr"/>
          <a:lstStyle/>
          <a:p>
            <a:pPr marL="0" indent="0">
              <a:buNone/>
            </a:pPr>
            <a:r>
              <a:rPr lang="en-US" sz="1200" b="1" dirty="0">
                <a:solidFill>
                  <a:schemeClr val="accent1"/>
                </a:solidFill>
              </a:rPr>
              <a:t>FRONTEND</a:t>
            </a:r>
            <a:endParaRPr lang="en-US" sz="1200" dirty="0"/>
          </a:p>
        </p:txBody>
      </p:sp>
      <p:sp>
        <p:nvSpPr>
          <p:cNvPr id="15" name="Tech Name 1"/>
          <p:cNvSpPr txBox="1"/>
          <p:nvPr/>
        </p:nvSpPr>
        <p:spPr>
          <a:xfrm>
            <a:off x="685800" y="1956816"/>
            <a:ext cx="2286000" cy="320040"/>
          </a:xfrm>
          <a:prstGeom prst="rect">
            <a:avLst/>
          </a:prstGeom>
          <a:noFill/>
          <a:ln/>
        </p:spPr>
        <p:txBody>
          <a:bodyPr wrap="square" lIns="0" tIns="0" rIns="0" bIns="0" rtlCol="0" anchor="ctr"/>
          <a:lstStyle/>
          <a:p>
            <a:pPr marL="0" indent="0">
              <a:buNone/>
            </a:pPr>
            <a:r>
              <a:rPr lang="en-US" sz="1600" b="1" dirty="0">
                <a:solidFill>
                  <a:schemeClr val="tx2"/>
                </a:solidFill>
              </a:rPr>
              <a:t>React JS</a:t>
            </a:r>
            <a:endParaRPr lang="en-US" sz="1600" dirty="0"/>
          </a:p>
        </p:txBody>
      </p:sp>
      <p:sp>
        <p:nvSpPr>
          <p:cNvPr id="16" name="Tech Description 1"/>
          <p:cNvSpPr txBox="1"/>
          <p:nvPr/>
        </p:nvSpPr>
        <p:spPr>
          <a:xfrm>
            <a:off x="685800" y="2276856"/>
            <a:ext cx="2286000" cy="420624"/>
          </a:xfrm>
          <a:prstGeom prst="rect">
            <a:avLst/>
          </a:prstGeom>
          <a:noFill/>
          <a:ln/>
        </p:spPr>
        <p:txBody>
          <a:bodyPr wrap="square" lIns="0" tIns="0" rIns="0" bIns="0" rtlCol="0" anchor="t"/>
          <a:lstStyle/>
          <a:p>
            <a:pPr marL="0" indent="0">
              <a:buNone/>
            </a:pPr>
            <a:r>
              <a:rPr lang="en-US" sz="1400" dirty="0">
                <a:solidFill>
                  <a:schemeClr val="tx1"/>
                </a:solidFill>
              </a:rPr>
              <a:t>Creates the user interface.</a:t>
            </a:r>
            <a:endParaRPr lang="en-US" sz="1400" dirty="0"/>
          </a:p>
        </p:txBody>
      </p:sp>
      <p:sp>
        <p:nvSpPr>
          <p:cNvPr id="17" name="Tech Card 2"/>
          <p:cNvSpPr/>
          <p:nvPr/>
        </p:nvSpPr>
        <p:spPr>
          <a:xfrm>
            <a:off x="3291840" y="1325880"/>
            <a:ext cx="2560320" cy="1463040"/>
          </a:xfrm>
          <a:prstGeom prst="roundRect">
            <a:avLst>
              <a:gd name="adj" fmla="val 5000"/>
            </a:avLst>
          </a:prstGeom>
          <a:solidFill>
            <a:schemeClr val="bg2"/>
          </a:solidFill>
          <a:ln/>
        </p:spPr>
      </p:sp>
      <p:sp>
        <p:nvSpPr>
          <p:cNvPr id="18" name="Tech icon 2 Circle"/>
          <p:cNvSpPr/>
          <p:nvPr/>
        </p:nvSpPr>
        <p:spPr>
          <a:xfrm>
            <a:off x="3429000" y="1426464"/>
            <a:ext cx="502920" cy="502920"/>
          </a:xfrm>
          <a:prstGeom prst="ellipse">
            <a:avLst/>
          </a:prstGeom>
          <a:solidFill>
            <a:schemeClr val="accent1"/>
          </a:solidFill>
          <a:ln/>
        </p:spPr>
      </p:sp>
      <p:pic>
        <p:nvPicPr>
          <p:cNvPr id="19" name="Image 1" descr="Tech icon 2"/>
          <p:cNvPicPr>
            <a:picLocks noChangeAspect="1"/>
          </p:cNvPicPr>
          <p:nvPr/>
        </p:nvPicPr>
        <p:blipFill>
          <a:blip r:embed="rId4"/>
          <a:stretch>
            <a:fillRect/>
          </a:stretch>
        </p:blipFill>
        <p:spPr>
          <a:xfrm>
            <a:off x="3543300" y="1540764"/>
            <a:ext cx="274320" cy="274320"/>
          </a:xfrm>
          <a:prstGeom prst="rect">
            <a:avLst/>
          </a:prstGeom>
        </p:spPr>
      </p:pic>
      <p:sp>
        <p:nvSpPr>
          <p:cNvPr id="20" name="Tech Label 2"/>
          <p:cNvSpPr txBox="1"/>
          <p:nvPr/>
        </p:nvSpPr>
        <p:spPr>
          <a:xfrm>
            <a:off x="4069080" y="1426464"/>
            <a:ext cx="1645920" cy="502920"/>
          </a:xfrm>
          <a:prstGeom prst="rect">
            <a:avLst/>
          </a:prstGeom>
          <a:noFill/>
          <a:ln/>
        </p:spPr>
        <p:txBody>
          <a:bodyPr wrap="square" lIns="0" tIns="0" rIns="0" bIns="0" rtlCol="0" anchor="ctr"/>
          <a:lstStyle/>
          <a:p>
            <a:pPr marL="0" indent="0">
              <a:buNone/>
            </a:pPr>
            <a:r>
              <a:rPr lang="en-US" sz="1200" b="1" dirty="0">
                <a:solidFill>
                  <a:schemeClr val="accent1"/>
                </a:solidFill>
              </a:rPr>
              <a:t>BACKEND</a:t>
            </a:r>
            <a:endParaRPr lang="en-US" sz="1200" dirty="0"/>
          </a:p>
        </p:txBody>
      </p:sp>
      <p:sp>
        <p:nvSpPr>
          <p:cNvPr id="21" name="Tech Name 2"/>
          <p:cNvSpPr txBox="1"/>
          <p:nvPr/>
        </p:nvSpPr>
        <p:spPr>
          <a:xfrm>
            <a:off x="3429000" y="1956816"/>
            <a:ext cx="2286000" cy="320040"/>
          </a:xfrm>
          <a:prstGeom prst="rect">
            <a:avLst/>
          </a:prstGeom>
          <a:noFill/>
          <a:ln/>
        </p:spPr>
        <p:txBody>
          <a:bodyPr wrap="square" lIns="0" tIns="0" rIns="0" bIns="0" rtlCol="0" anchor="ctr"/>
          <a:lstStyle/>
          <a:p>
            <a:pPr marL="0" indent="0">
              <a:buNone/>
            </a:pPr>
            <a:r>
              <a:rPr lang="en-US" sz="1600" b="1" dirty="0">
                <a:solidFill>
                  <a:schemeClr val="tx2"/>
                </a:solidFill>
              </a:rPr>
              <a:t>Node.js and Express JS</a:t>
            </a:r>
            <a:endParaRPr lang="en-US" sz="1600" dirty="0"/>
          </a:p>
        </p:txBody>
      </p:sp>
      <p:sp>
        <p:nvSpPr>
          <p:cNvPr id="22" name="Tech Description 2"/>
          <p:cNvSpPr txBox="1"/>
          <p:nvPr/>
        </p:nvSpPr>
        <p:spPr>
          <a:xfrm>
            <a:off x="3429000" y="2276856"/>
            <a:ext cx="2286000" cy="420624"/>
          </a:xfrm>
          <a:prstGeom prst="rect">
            <a:avLst/>
          </a:prstGeom>
          <a:noFill/>
          <a:ln/>
        </p:spPr>
        <p:txBody>
          <a:bodyPr wrap="square" lIns="0" tIns="0" rIns="0" bIns="0" rtlCol="0" anchor="t"/>
          <a:lstStyle/>
          <a:p>
            <a:pPr marL="0" indent="0">
              <a:buNone/>
            </a:pPr>
            <a:r>
              <a:rPr lang="en-US" sz="1400" dirty="0">
                <a:solidFill>
                  <a:schemeClr val="tx1"/>
                </a:solidFill>
              </a:rPr>
              <a:t>Handles server operations.</a:t>
            </a:r>
            <a:endParaRPr lang="en-US" sz="1400" dirty="0"/>
          </a:p>
        </p:txBody>
      </p:sp>
      <p:sp>
        <p:nvSpPr>
          <p:cNvPr id="23" name="Tech Card 3"/>
          <p:cNvSpPr/>
          <p:nvPr/>
        </p:nvSpPr>
        <p:spPr>
          <a:xfrm>
            <a:off x="6035040" y="1325880"/>
            <a:ext cx="2560320" cy="1463040"/>
          </a:xfrm>
          <a:prstGeom prst="roundRect">
            <a:avLst>
              <a:gd name="adj" fmla="val 5000"/>
            </a:avLst>
          </a:prstGeom>
          <a:solidFill>
            <a:schemeClr val="bg2"/>
          </a:solidFill>
          <a:ln/>
        </p:spPr>
      </p:sp>
      <p:sp>
        <p:nvSpPr>
          <p:cNvPr id="24" name="Tech icon 3 Circle"/>
          <p:cNvSpPr/>
          <p:nvPr/>
        </p:nvSpPr>
        <p:spPr>
          <a:xfrm>
            <a:off x="6172200" y="1426464"/>
            <a:ext cx="502920" cy="502920"/>
          </a:xfrm>
          <a:prstGeom prst="ellipse">
            <a:avLst/>
          </a:prstGeom>
          <a:solidFill>
            <a:schemeClr val="accent1"/>
          </a:solidFill>
          <a:ln/>
        </p:spPr>
      </p:sp>
      <p:pic>
        <p:nvPicPr>
          <p:cNvPr id="25" name="Image 2" descr="Tech icon 3"/>
          <p:cNvPicPr>
            <a:picLocks noChangeAspect="1"/>
          </p:cNvPicPr>
          <p:nvPr/>
        </p:nvPicPr>
        <p:blipFill>
          <a:blip r:embed="rId5"/>
          <a:stretch>
            <a:fillRect/>
          </a:stretch>
        </p:blipFill>
        <p:spPr>
          <a:xfrm>
            <a:off x="6286500" y="1540764"/>
            <a:ext cx="274320" cy="274320"/>
          </a:xfrm>
          <a:prstGeom prst="rect">
            <a:avLst/>
          </a:prstGeom>
        </p:spPr>
      </p:pic>
      <p:sp>
        <p:nvSpPr>
          <p:cNvPr id="26" name="Tech Label 3"/>
          <p:cNvSpPr txBox="1"/>
          <p:nvPr/>
        </p:nvSpPr>
        <p:spPr>
          <a:xfrm>
            <a:off x="6812280" y="1426464"/>
            <a:ext cx="1645920" cy="502920"/>
          </a:xfrm>
          <a:prstGeom prst="rect">
            <a:avLst/>
          </a:prstGeom>
          <a:noFill/>
          <a:ln/>
        </p:spPr>
        <p:txBody>
          <a:bodyPr wrap="square" lIns="0" tIns="0" rIns="0" bIns="0" rtlCol="0" anchor="ctr"/>
          <a:lstStyle/>
          <a:p>
            <a:pPr marL="0" indent="0">
              <a:buNone/>
            </a:pPr>
            <a:r>
              <a:rPr lang="en-US" sz="1200" b="1" dirty="0">
                <a:solidFill>
                  <a:schemeClr val="accent1"/>
                </a:solidFill>
              </a:rPr>
              <a:t>DATABASE</a:t>
            </a:r>
            <a:endParaRPr lang="en-US" sz="1200" dirty="0"/>
          </a:p>
        </p:txBody>
      </p:sp>
      <p:sp>
        <p:nvSpPr>
          <p:cNvPr id="27" name="Tech Name 3"/>
          <p:cNvSpPr txBox="1"/>
          <p:nvPr/>
        </p:nvSpPr>
        <p:spPr>
          <a:xfrm>
            <a:off x="6172200" y="1956816"/>
            <a:ext cx="2286000" cy="320040"/>
          </a:xfrm>
          <a:prstGeom prst="rect">
            <a:avLst/>
          </a:prstGeom>
          <a:noFill/>
          <a:ln/>
        </p:spPr>
        <p:txBody>
          <a:bodyPr wrap="square" lIns="0" tIns="0" rIns="0" bIns="0" rtlCol="0" anchor="ctr"/>
          <a:lstStyle/>
          <a:p>
            <a:pPr marL="0" indent="0">
              <a:buNone/>
            </a:pPr>
            <a:r>
              <a:rPr lang="en-US" sz="1600" b="1" dirty="0">
                <a:solidFill>
                  <a:schemeClr val="tx2"/>
                </a:solidFill>
              </a:rPr>
              <a:t>TiDB Cloud</a:t>
            </a:r>
            <a:endParaRPr lang="en-US" sz="1600" dirty="0"/>
          </a:p>
        </p:txBody>
      </p:sp>
      <p:sp>
        <p:nvSpPr>
          <p:cNvPr id="28" name="Tech Description 3"/>
          <p:cNvSpPr txBox="1"/>
          <p:nvPr/>
        </p:nvSpPr>
        <p:spPr>
          <a:xfrm>
            <a:off x="6172200" y="2276856"/>
            <a:ext cx="2286000" cy="420624"/>
          </a:xfrm>
          <a:prstGeom prst="rect">
            <a:avLst/>
          </a:prstGeom>
          <a:noFill/>
          <a:ln/>
        </p:spPr>
        <p:txBody>
          <a:bodyPr wrap="square" lIns="0" tIns="0" rIns="0" bIns="0" rtlCol="0" anchor="t"/>
          <a:lstStyle/>
          <a:p>
            <a:pPr marL="0" indent="0">
              <a:buNone/>
            </a:pPr>
            <a:r>
              <a:rPr lang="en-US" sz="1400" dirty="0">
                <a:solidFill>
                  <a:schemeClr val="tx1"/>
                </a:solidFill>
              </a:rPr>
              <a:t>MySQL-compatible database. Stores user and report details.</a:t>
            </a:r>
            <a:endParaRPr lang="en-US" sz="1400" dirty="0"/>
          </a:p>
        </p:txBody>
      </p:sp>
      <p:sp>
        <p:nvSpPr>
          <p:cNvPr id="29" name="Tech Card 4"/>
          <p:cNvSpPr/>
          <p:nvPr/>
        </p:nvSpPr>
        <p:spPr>
          <a:xfrm>
            <a:off x="548640" y="2971800"/>
            <a:ext cx="2560320" cy="1463040"/>
          </a:xfrm>
          <a:prstGeom prst="roundRect">
            <a:avLst>
              <a:gd name="adj" fmla="val 5000"/>
            </a:avLst>
          </a:prstGeom>
          <a:solidFill>
            <a:schemeClr val="bg2"/>
          </a:solidFill>
          <a:ln/>
        </p:spPr>
      </p:sp>
      <p:sp>
        <p:nvSpPr>
          <p:cNvPr id="30" name="Tech icon 4 Circle"/>
          <p:cNvSpPr/>
          <p:nvPr/>
        </p:nvSpPr>
        <p:spPr>
          <a:xfrm>
            <a:off x="685800" y="3072384"/>
            <a:ext cx="502920" cy="502920"/>
          </a:xfrm>
          <a:prstGeom prst="ellipse">
            <a:avLst/>
          </a:prstGeom>
          <a:solidFill>
            <a:schemeClr val="accent1"/>
          </a:solidFill>
          <a:ln/>
        </p:spPr>
      </p:sp>
      <p:pic>
        <p:nvPicPr>
          <p:cNvPr id="31" name="Image 3" descr="Tech icon 4"/>
          <p:cNvPicPr>
            <a:picLocks noChangeAspect="1"/>
          </p:cNvPicPr>
          <p:nvPr/>
        </p:nvPicPr>
        <p:blipFill>
          <a:blip r:embed="rId7"/>
          <a:stretch>
            <a:fillRect/>
          </a:stretch>
        </p:blipFill>
        <p:spPr>
          <a:xfrm>
            <a:off x="800100" y="3186684"/>
            <a:ext cx="274320" cy="274320"/>
          </a:xfrm>
          <a:prstGeom prst="rect">
            <a:avLst/>
          </a:prstGeom>
        </p:spPr>
      </p:pic>
      <p:sp>
        <p:nvSpPr>
          <p:cNvPr id="32" name="Tech Label 4"/>
          <p:cNvSpPr txBox="1"/>
          <p:nvPr/>
        </p:nvSpPr>
        <p:spPr>
          <a:xfrm>
            <a:off x="1325880" y="3072384"/>
            <a:ext cx="1645920" cy="502920"/>
          </a:xfrm>
          <a:prstGeom prst="rect">
            <a:avLst/>
          </a:prstGeom>
          <a:noFill/>
          <a:ln/>
        </p:spPr>
        <p:txBody>
          <a:bodyPr wrap="square" lIns="0" tIns="0" rIns="0" bIns="0" rtlCol="0" anchor="ctr"/>
          <a:lstStyle/>
          <a:p>
            <a:pPr marL="0" indent="0">
              <a:buNone/>
            </a:pPr>
            <a:r>
              <a:rPr lang="en-US" sz="1200" b="1" dirty="0">
                <a:solidFill>
                  <a:schemeClr val="accent1"/>
                </a:solidFill>
              </a:rPr>
              <a:t>IMAGE STORAGE</a:t>
            </a:r>
            <a:endParaRPr lang="en-US" sz="1200" dirty="0"/>
          </a:p>
        </p:txBody>
      </p:sp>
      <p:sp>
        <p:nvSpPr>
          <p:cNvPr id="33" name="Tech Name 4"/>
          <p:cNvSpPr txBox="1"/>
          <p:nvPr/>
        </p:nvSpPr>
        <p:spPr>
          <a:xfrm>
            <a:off x="685800" y="3602736"/>
            <a:ext cx="2286000" cy="320040"/>
          </a:xfrm>
          <a:prstGeom prst="rect">
            <a:avLst/>
          </a:prstGeom>
          <a:noFill/>
          <a:ln/>
        </p:spPr>
        <p:txBody>
          <a:bodyPr wrap="square" lIns="0" tIns="0" rIns="0" bIns="0" rtlCol="0" anchor="ctr"/>
          <a:lstStyle/>
          <a:p>
            <a:pPr marL="0" indent="0">
              <a:buNone/>
            </a:pPr>
            <a:r>
              <a:rPr lang="en-US" sz="1600" b="1" dirty="0">
                <a:solidFill>
                  <a:schemeClr val="tx2"/>
                </a:solidFill>
              </a:rPr>
              <a:t>Cloudinary</a:t>
            </a:r>
            <a:endParaRPr lang="en-US" sz="1600" dirty="0"/>
          </a:p>
        </p:txBody>
      </p:sp>
      <p:sp>
        <p:nvSpPr>
          <p:cNvPr id="34" name="Tech Description 4"/>
          <p:cNvSpPr txBox="1"/>
          <p:nvPr/>
        </p:nvSpPr>
        <p:spPr>
          <a:xfrm>
            <a:off x="685800" y="3922776"/>
            <a:ext cx="2286000" cy="420624"/>
          </a:xfrm>
          <a:prstGeom prst="rect">
            <a:avLst/>
          </a:prstGeom>
          <a:noFill/>
          <a:ln/>
        </p:spPr>
        <p:txBody>
          <a:bodyPr wrap="square" lIns="0" tIns="0" rIns="0" bIns="0" rtlCol="0" anchor="t"/>
          <a:lstStyle/>
          <a:p>
            <a:pPr marL="0" indent="0">
              <a:buNone/>
            </a:pPr>
            <a:r>
              <a:rPr lang="en-US" sz="1400" dirty="0">
                <a:solidFill>
                  <a:schemeClr val="tx1"/>
                </a:solidFill>
              </a:rPr>
              <a:t>Stores uploaded item images.</a:t>
            </a:r>
            <a:endParaRPr lang="en-US" sz="1400" dirty="0"/>
          </a:p>
        </p:txBody>
      </p:sp>
      <p:sp>
        <p:nvSpPr>
          <p:cNvPr id="35" name="Tech Card 5"/>
          <p:cNvSpPr/>
          <p:nvPr/>
        </p:nvSpPr>
        <p:spPr>
          <a:xfrm>
            <a:off x="3291840" y="2971800"/>
            <a:ext cx="2560320" cy="1463040"/>
          </a:xfrm>
          <a:prstGeom prst="roundRect">
            <a:avLst>
              <a:gd name="adj" fmla="val 5000"/>
            </a:avLst>
          </a:prstGeom>
          <a:solidFill>
            <a:schemeClr val="bg2"/>
          </a:solidFill>
          <a:ln/>
        </p:spPr>
      </p:sp>
      <p:sp>
        <p:nvSpPr>
          <p:cNvPr id="36" name="Tech icon 5 Circle"/>
          <p:cNvSpPr/>
          <p:nvPr/>
        </p:nvSpPr>
        <p:spPr>
          <a:xfrm>
            <a:off x="3429000" y="3072384"/>
            <a:ext cx="502920" cy="502920"/>
          </a:xfrm>
          <a:prstGeom prst="ellipse">
            <a:avLst/>
          </a:prstGeom>
          <a:solidFill>
            <a:schemeClr val="accent1"/>
          </a:solidFill>
          <a:ln/>
        </p:spPr>
      </p:sp>
      <p:pic>
        <p:nvPicPr>
          <p:cNvPr id="37" name="Image 4" descr="Tech icon 5"/>
          <p:cNvPicPr>
            <a:picLocks noChangeAspect="1"/>
          </p:cNvPicPr>
          <p:nvPr/>
        </p:nvPicPr>
        <p:blipFill>
          <a:blip r:embed="rId6"/>
          <a:stretch>
            <a:fillRect/>
          </a:stretch>
        </p:blipFill>
        <p:spPr>
          <a:xfrm>
            <a:off x="3543300" y="3186684"/>
            <a:ext cx="274320" cy="274320"/>
          </a:xfrm>
          <a:prstGeom prst="rect">
            <a:avLst/>
          </a:prstGeom>
        </p:spPr>
      </p:pic>
      <p:sp>
        <p:nvSpPr>
          <p:cNvPr id="38" name="Tech Label 5"/>
          <p:cNvSpPr txBox="1"/>
          <p:nvPr/>
        </p:nvSpPr>
        <p:spPr>
          <a:xfrm>
            <a:off x="4069080" y="3072384"/>
            <a:ext cx="1645920" cy="502920"/>
          </a:xfrm>
          <a:prstGeom prst="rect">
            <a:avLst/>
          </a:prstGeom>
          <a:noFill/>
          <a:ln/>
        </p:spPr>
        <p:txBody>
          <a:bodyPr wrap="square" lIns="0" tIns="0" rIns="0" bIns="0" rtlCol="0" anchor="ctr"/>
          <a:lstStyle/>
          <a:p>
            <a:pPr marL="0" indent="0">
              <a:buNone/>
            </a:pPr>
            <a:r>
              <a:rPr lang="en-US" sz="1200" b="1" dirty="0">
                <a:solidFill>
                  <a:schemeClr val="accent1"/>
                </a:solidFill>
              </a:rPr>
              <a:t>COMMUNICATION</a:t>
            </a:r>
            <a:endParaRPr lang="en-US" sz="1200" dirty="0"/>
          </a:p>
        </p:txBody>
      </p:sp>
      <p:sp>
        <p:nvSpPr>
          <p:cNvPr id="39" name="Tech Name 5"/>
          <p:cNvSpPr txBox="1"/>
          <p:nvPr/>
        </p:nvSpPr>
        <p:spPr>
          <a:xfrm>
            <a:off x="3429000" y="3602736"/>
            <a:ext cx="2286000" cy="320040"/>
          </a:xfrm>
          <a:prstGeom prst="rect">
            <a:avLst/>
          </a:prstGeom>
          <a:noFill/>
          <a:ln/>
        </p:spPr>
        <p:txBody>
          <a:bodyPr wrap="square" lIns="0" tIns="0" rIns="0" bIns="0" rtlCol="0" anchor="ctr"/>
          <a:lstStyle/>
          <a:p>
            <a:pPr marL="0" indent="0">
              <a:buNone/>
            </a:pPr>
            <a:r>
              <a:rPr lang="en-US" sz="1600" b="1" dirty="0">
                <a:solidFill>
                  <a:schemeClr val="tx2"/>
                </a:solidFill>
              </a:rPr>
              <a:t>REST APIs</a:t>
            </a:r>
            <a:endParaRPr lang="en-US" sz="1600" dirty="0"/>
          </a:p>
        </p:txBody>
      </p:sp>
      <p:sp>
        <p:nvSpPr>
          <p:cNvPr id="40" name="Tech Description 5"/>
          <p:cNvSpPr txBox="1"/>
          <p:nvPr/>
        </p:nvSpPr>
        <p:spPr>
          <a:xfrm>
            <a:off x="3429000" y="3922776"/>
            <a:ext cx="2286000" cy="420624"/>
          </a:xfrm>
          <a:prstGeom prst="rect">
            <a:avLst/>
          </a:prstGeom>
          <a:noFill/>
          <a:ln/>
        </p:spPr>
        <p:txBody>
          <a:bodyPr wrap="square" lIns="0" tIns="0" rIns="0" bIns="0" rtlCol="0" anchor="t"/>
          <a:lstStyle/>
          <a:p>
            <a:pPr marL="0" indent="0">
              <a:buNone/>
            </a:pPr>
            <a:r>
              <a:rPr lang="en-US" sz="1400" dirty="0">
                <a:solidFill>
                  <a:schemeClr val="tx1"/>
                </a:solidFill>
              </a:rPr>
              <a:t>Connects frontend and backend.</a:t>
            </a:r>
            <a:endParaRPr lang="en-US" sz="1400" dirty="0"/>
          </a:p>
        </p:txBody>
      </p:sp>
      <p:sp>
        <p:nvSpPr>
          <p:cNvPr id="41" name="Tech Card 6"/>
          <p:cNvSpPr/>
          <p:nvPr/>
        </p:nvSpPr>
        <p:spPr>
          <a:xfrm>
            <a:off x="6035040" y="2971800"/>
            <a:ext cx="2560320" cy="1463040"/>
          </a:xfrm>
          <a:prstGeom prst="roundRect">
            <a:avLst>
              <a:gd name="adj" fmla="val 5000"/>
            </a:avLst>
          </a:prstGeom>
          <a:solidFill>
            <a:schemeClr val="bg2"/>
          </a:solidFill>
          <a:ln/>
        </p:spPr>
      </p:sp>
      <p:sp>
        <p:nvSpPr>
          <p:cNvPr id="42" name="Tech icon 6 Circle"/>
          <p:cNvSpPr/>
          <p:nvPr/>
        </p:nvSpPr>
        <p:spPr>
          <a:xfrm>
            <a:off x="6172200" y="3072384"/>
            <a:ext cx="502920" cy="502920"/>
          </a:xfrm>
          <a:prstGeom prst="ellipse">
            <a:avLst/>
          </a:prstGeom>
          <a:solidFill>
            <a:schemeClr val="accent1"/>
          </a:solidFill>
          <a:ln/>
        </p:spPr>
      </p:sp>
      <p:pic>
        <p:nvPicPr>
          <p:cNvPr id="43" name="Image 5" descr="Tech icon 6"/>
          <p:cNvPicPr>
            <a:picLocks noChangeAspect="1"/>
          </p:cNvPicPr>
          <p:nvPr/>
        </p:nvPicPr>
        <p:blipFill>
          <a:blip r:embed="rId8"/>
          <a:stretch>
            <a:fillRect/>
          </a:stretch>
        </p:blipFill>
        <p:spPr>
          <a:xfrm>
            <a:off x="6286500" y="3186684"/>
            <a:ext cx="274320" cy="274320"/>
          </a:xfrm>
          <a:prstGeom prst="rect">
            <a:avLst/>
          </a:prstGeom>
        </p:spPr>
      </p:pic>
      <p:sp>
        <p:nvSpPr>
          <p:cNvPr id="44" name="Tech Label 6"/>
          <p:cNvSpPr txBox="1"/>
          <p:nvPr/>
        </p:nvSpPr>
        <p:spPr>
          <a:xfrm>
            <a:off x="6812280" y="3072384"/>
            <a:ext cx="1645920" cy="502920"/>
          </a:xfrm>
          <a:prstGeom prst="rect">
            <a:avLst/>
          </a:prstGeom>
          <a:noFill/>
          <a:ln/>
        </p:spPr>
        <p:txBody>
          <a:bodyPr wrap="square" lIns="0" tIns="0" rIns="0" bIns="0" rtlCol="0" anchor="ctr"/>
          <a:lstStyle/>
          <a:p>
            <a:pPr marL="0" indent="0">
              <a:buNone/>
            </a:pPr>
            <a:r>
              <a:rPr lang="en-US" sz="1200" b="1" dirty="0">
                <a:solidFill>
                  <a:schemeClr val="accent1"/>
                </a:solidFill>
              </a:rPr>
              <a:t>DEPLOYMENT</a:t>
            </a:r>
            <a:endParaRPr lang="en-US" sz="1200" dirty="0"/>
          </a:p>
        </p:txBody>
      </p:sp>
      <p:sp>
        <p:nvSpPr>
          <p:cNvPr id="45" name="Tech Name 6"/>
          <p:cNvSpPr txBox="1"/>
          <p:nvPr/>
        </p:nvSpPr>
        <p:spPr>
          <a:xfrm>
            <a:off x="6172200" y="3602736"/>
            <a:ext cx="2286000" cy="320040"/>
          </a:xfrm>
          <a:prstGeom prst="rect">
            <a:avLst/>
          </a:prstGeom>
          <a:noFill/>
          <a:ln/>
        </p:spPr>
        <p:txBody>
          <a:bodyPr wrap="square" lIns="0" tIns="0" rIns="0" bIns="0" rtlCol="0" anchor="ctr"/>
          <a:lstStyle/>
          <a:p>
            <a:pPr marL="0" indent="0">
              <a:buNone/>
            </a:pPr>
            <a:r>
              <a:rPr lang="en-US" sz="1600" b="1" dirty="0">
                <a:solidFill>
                  <a:schemeClr val="tx2"/>
                </a:solidFill>
              </a:rPr>
              <a:t>GitHub Pages and Render</a:t>
            </a:r>
            <a:endParaRPr lang="en-US" sz="1600" dirty="0"/>
          </a:p>
        </p:txBody>
      </p:sp>
      <p:sp>
        <p:nvSpPr>
          <p:cNvPr id="46" name="Tech Description 6"/>
          <p:cNvSpPr txBox="1"/>
          <p:nvPr/>
        </p:nvSpPr>
        <p:spPr>
          <a:xfrm>
            <a:off x="6172200" y="3922776"/>
            <a:ext cx="2286000" cy="420624"/>
          </a:xfrm>
          <a:prstGeom prst="rect">
            <a:avLst/>
          </a:prstGeom>
          <a:noFill/>
          <a:ln/>
        </p:spPr>
        <p:txBody>
          <a:bodyPr wrap="square" lIns="0" tIns="0" rIns="0" bIns="0" rtlCol="0" anchor="t"/>
          <a:lstStyle/>
          <a:p>
            <a:pPr marL="0" indent="0">
              <a:buNone/>
            </a:pPr>
            <a:r>
              <a:rPr lang="en-US" sz="1400" dirty="0">
                <a:solidFill>
                  <a:schemeClr val="tx1"/>
                </a:solidFill>
              </a:rPr>
              <a:t>Hosts the frontend and backend.</a:t>
            </a:r>
            <a:endParaRPr lang="en-US" sz="1400" dirty="0"/>
          </a:p>
        </p:txBody>
      </p:sp>
      <p:sp>
        <p:nvSpPr>
          <p:cNvPr id="3"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85"/>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600" b="1" dirty="0">
                <a:solidFill>
                  <a:schemeClr val="tx2"/>
                </a:solidFill>
              </a:rPr>
              <a:t>Key Features</a:t>
            </a:r>
            <a:endParaRPr lang="en-US" sz="3600" dirty="0"/>
          </a:p>
        </p:txBody>
      </p:sp>
      <p:sp>
        <p:nvSpPr>
          <p:cNvPr id="11" name="Feature Card 1"/>
          <p:cNvSpPr/>
          <p:nvPr/>
        </p:nvSpPr>
        <p:spPr>
          <a:xfrm>
            <a:off x="548640" y="1280160"/>
            <a:ext cx="3931920" cy="685800"/>
          </a:xfrm>
          <a:prstGeom prst="roundRect">
            <a:avLst>
              <a:gd name="adj" fmla="val 16129"/>
            </a:avLst>
          </a:prstGeom>
          <a:solidFill>
            <a:schemeClr val="bg2"/>
          </a:solidFill>
          <a:ln/>
        </p:spPr>
      </p:sp>
      <p:sp>
        <p:nvSpPr>
          <p:cNvPr id="12" name="Feature Circle 1"/>
          <p:cNvSpPr/>
          <p:nvPr/>
        </p:nvSpPr>
        <p:spPr>
          <a:xfrm>
            <a:off x="685800" y="1417320"/>
            <a:ext cx="411480" cy="411480"/>
          </a:xfrm>
          <a:prstGeom prst="ellipse">
            <a:avLst/>
          </a:prstGeom>
          <a:solidFill>
            <a:schemeClr val="accent1"/>
          </a:solidFill>
          <a:ln/>
        </p:spPr>
      </p:sp>
      <p:pic>
        <p:nvPicPr>
          <p:cNvPr id="13" name="Image 0" descr="Check icon"/>
          <p:cNvPicPr>
            <a:picLocks noChangeAspect="1"/>
          </p:cNvPicPr>
          <p:nvPr/>
        </p:nvPicPr>
        <p:blipFill>
          <a:blip r:embed="rId2"/>
          <a:stretch>
            <a:fillRect/>
          </a:stretch>
        </p:blipFill>
        <p:spPr>
          <a:xfrm>
            <a:off x="777240" y="1508760"/>
            <a:ext cx="228600" cy="228600"/>
          </a:xfrm>
          <a:prstGeom prst="rect">
            <a:avLst/>
          </a:prstGeom>
        </p:spPr>
      </p:pic>
      <p:sp>
        <p:nvSpPr>
          <p:cNvPr id="14" name="Feature Text 1"/>
          <p:cNvSpPr txBox="1"/>
          <p:nvPr/>
        </p:nvSpPr>
        <p:spPr>
          <a:xfrm>
            <a:off x="1234440" y="1280160"/>
            <a:ext cx="3108960" cy="685800"/>
          </a:xfrm>
          <a:prstGeom prst="rect">
            <a:avLst/>
          </a:prstGeom>
          <a:noFill/>
          <a:ln/>
        </p:spPr>
        <p:txBody>
          <a:bodyPr wrap="square" lIns="0" tIns="0" rIns="0" bIns="0" rtlCol="0" anchor="ctr"/>
          <a:lstStyle/>
          <a:p>
            <a:pPr marL="0" indent="0">
              <a:buNone/>
            </a:pPr>
            <a:r>
              <a:rPr lang="en-US" sz="1600" dirty="0">
                <a:solidFill>
                  <a:schemeClr val="tx1"/>
                </a:solidFill>
              </a:rPr>
              <a:t>Student registration and login.</a:t>
            </a:r>
            <a:endParaRPr lang="en-US" sz="1600" dirty="0"/>
          </a:p>
        </p:txBody>
      </p:sp>
      <p:sp>
        <p:nvSpPr>
          <p:cNvPr id="15" name="Feature Card 2"/>
          <p:cNvSpPr/>
          <p:nvPr/>
        </p:nvSpPr>
        <p:spPr>
          <a:xfrm>
            <a:off x="4663440" y="1280160"/>
            <a:ext cx="3931920" cy="685800"/>
          </a:xfrm>
          <a:prstGeom prst="roundRect">
            <a:avLst>
              <a:gd name="adj" fmla="val 16129"/>
            </a:avLst>
          </a:prstGeom>
          <a:solidFill>
            <a:schemeClr val="bg2"/>
          </a:solidFill>
          <a:ln/>
        </p:spPr>
      </p:sp>
      <p:sp>
        <p:nvSpPr>
          <p:cNvPr id="16" name="Feature Circle 2"/>
          <p:cNvSpPr/>
          <p:nvPr/>
        </p:nvSpPr>
        <p:spPr>
          <a:xfrm>
            <a:off x="4800600" y="1417320"/>
            <a:ext cx="411480" cy="411480"/>
          </a:xfrm>
          <a:prstGeom prst="ellipse">
            <a:avLst/>
          </a:prstGeom>
          <a:solidFill>
            <a:schemeClr val="accent1"/>
          </a:solidFill>
          <a:ln/>
        </p:spPr>
      </p:sp>
      <p:pic>
        <p:nvPicPr>
          <p:cNvPr id="17" name="Image 1" descr="Check icon"/>
          <p:cNvPicPr>
            <a:picLocks noChangeAspect="1"/>
          </p:cNvPicPr>
          <p:nvPr/>
        </p:nvPicPr>
        <p:blipFill>
          <a:blip r:embed="rId2"/>
          <a:stretch>
            <a:fillRect/>
          </a:stretch>
        </p:blipFill>
        <p:spPr>
          <a:xfrm>
            <a:off x="4892040" y="1508760"/>
            <a:ext cx="228600" cy="228600"/>
          </a:xfrm>
          <a:prstGeom prst="rect">
            <a:avLst/>
          </a:prstGeom>
        </p:spPr>
      </p:pic>
      <p:sp>
        <p:nvSpPr>
          <p:cNvPr id="18" name="Feature Text 2"/>
          <p:cNvSpPr txBox="1"/>
          <p:nvPr/>
        </p:nvSpPr>
        <p:spPr>
          <a:xfrm>
            <a:off x="5349240" y="1280160"/>
            <a:ext cx="3108960" cy="685800"/>
          </a:xfrm>
          <a:prstGeom prst="rect">
            <a:avLst/>
          </a:prstGeom>
          <a:noFill/>
          <a:ln/>
        </p:spPr>
        <p:txBody>
          <a:bodyPr wrap="square" lIns="0" tIns="0" rIns="0" bIns="0" rtlCol="0" anchor="ctr"/>
          <a:lstStyle/>
          <a:p>
            <a:pPr marL="0" indent="0">
              <a:buNone/>
            </a:pPr>
            <a:r>
              <a:rPr lang="en-US" sz="1600" dirty="0">
                <a:solidFill>
                  <a:schemeClr val="tx1"/>
                </a:solidFill>
              </a:rPr>
              <a:t>Separate admin login.</a:t>
            </a:r>
            <a:endParaRPr lang="en-US" sz="1600" dirty="0"/>
          </a:p>
        </p:txBody>
      </p:sp>
      <p:sp>
        <p:nvSpPr>
          <p:cNvPr id="19" name="Feature Card 3"/>
          <p:cNvSpPr/>
          <p:nvPr/>
        </p:nvSpPr>
        <p:spPr>
          <a:xfrm>
            <a:off x="548640" y="2075688"/>
            <a:ext cx="3931920" cy="685800"/>
          </a:xfrm>
          <a:prstGeom prst="roundRect">
            <a:avLst>
              <a:gd name="adj" fmla="val 16129"/>
            </a:avLst>
          </a:prstGeom>
          <a:solidFill>
            <a:schemeClr val="bg2"/>
          </a:solidFill>
          <a:ln/>
        </p:spPr>
      </p:sp>
      <p:sp>
        <p:nvSpPr>
          <p:cNvPr id="20" name="Feature Circle 3"/>
          <p:cNvSpPr/>
          <p:nvPr/>
        </p:nvSpPr>
        <p:spPr>
          <a:xfrm>
            <a:off x="685800" y="2212848"/>
            <a:ext cx="411480" cy="411480"/>
          </a:xfrm>
          <a:prstGeom prst="ellipse">
            <a:avLst/>
          </a:prstGeom>
          <a:solidFill>
            <a:schemeClr val="accent1"/>
          </a:solidFill>
          <a:ln/>
        </p:spPr>
      </p:sp>
      <p:pic>
        <p:nvPicPr>
          <p:cNvPr id="21" name="Image 2" descr="Check icon"/>
          <p:cNvPicPr>
            <a:picLocks noChangeAspect="1"/>
          </p:cNvPicPr>
          <p:nvPr/>
        </p:nvPicPr>
        <p:blipFill>
          <a:blip r:embed="rId2"/>
          <a:stretch>
            <a:fillRect/>
          </a:stretch>
        </p:blipFill>
        <p:spPr>
          <a:xfrm>
            <a:off x="777240" y="2304288"/>
            <a:ext cx="228600" cy="228600"/>
          </a:xfrm>
          <a:prstGeom prst="rect">
            <a:avLst/>
          </a:prstGeom>
        </p:spPr>
      </p:pic>
      <p:sp>
        <p:nvSpPr>
          <p:cNvPr id="22" name="Feature Text 3"/>
          <p:cNvSpPr txBox="1"/>
          <p:nvPr/>
        </p:nvSpPr>
        <p:spPr>
          <a:xfrm>
            <a:off x="1234440" y="2075688"/>
            <a:ext cx="3108960" cy="685800"/>
          </a:xfrm>
          <a:prstGeom prst="rect">
            <a:avLst/>
          </a:prstGeom>
          <a:noFill/>
          <a:ln/>
        </p:spPr>
        <p:txBody>
          <a:bodyPr wrap="square" lIns="0" tIns="0" rIns="0" bIns="0" rtlCol="0" anchor="ctr"/>
          <a:lstStyle/>
          <a:p>
            <a:pPr marL="0" indent="0">
              <a:buNone/>
            </a:pPr>
            <a:r>
              <a:rPr lang="en-US" sz="1600" dirty="0">
                <a:solidFill>
                  <a:schemeClr val="tx1"/>
                </a:solidFill>
              </a:rPr>
              <a:t>Report lost and found items with images.</a:t>
            </a:r>
            <a:endParaRPr lang="en-US" sz="1600" dirty="0"/>
          </a:p>
        </p:txBody>
      </p:sp>
      <p:sp>
        <p:nvSpPr>
          <p:cNvPr id="23" name="Feature Card 4"/>
          <p:cNvSpPr/>
          <p:nvPr/>
        </p:nvSpPr>
        <p:spPr>
          <a:xfrm>
            <a:off x="4663440" y="2075688"/>
            <a:ext cx="3931920" cy="685800"/>
          </a:xfrm>
          <a:prstGeom prst="roundRect">
            <a:avLst>
              <a:gd name="adj" fmla="val 16129"/>
            </a:avLst>
          </a:prstGeom>
          <a:solidFill>
            <a:schemeClr val="bg2"/>
          </a:solidFill>
          <a:ln/>
        </p:spPr>
      </p:sp>
      <p:sp>
        <p:nvSpPr>
          <p:cNvPr id="24" name="Feature Circle 4"/>
          <p:cNvSpPr/>
          <p:nvPr/>
        </p:nvSpPr>
        <p:spPr>
          <a:xfrm>
            <a:off x="4800600" y="2212848"/>
            <a:ext cx="411480" cy="411480"/>
          </a:xfrm>
          <a:prstGeom prst="ellipse">
            <a:avLst/>
          </a:prstGeom>
          <a:solidFill>
            <a:schemeClr val="accent1"/>
          </a:solidFill>
          <a:ln/>
        </p:spPr>
      </p:sp>
      <p:pic>
        <p:nvPicPr>
          <p:cNvPr id="25" name="Image 3" descr="Check icon"/>
          <p:cNvPicPr>
            <a:picLocks noChangeAspect="1"/>
          </p:cNvPicPr>
          <p:nvPr/>
        </p:nvPicPr>
        <p:blipFill>
          <a:blip r:embed="rId2"/>
          <a:stretch>
            <a:fillRect/>
          </a:stretch>
        </p:blipFill>
        <p:spPr>
          <a:xfrm>
            <a:off x="4892040" y="2304288"/>
            <a:ext cx="228600" cy="228600"/>
          </a:xfrm>
          <a:prstGeom prst="rect">
            <a:avLst/>
          </a:prstGeom>
        </p:spPr>
      </p:pic>
      <p:sp>
        <p:nvSpPr>
          <p:cNvPr id="26" name="Feature Text 4"/>
          <p:cNvSpPr txBox="1"/>
          <p:nvPr/>
        </p:nvSpPr>
        <p:spPr>
          <a:xfrm>
            <a:off x="5349240" y="2075688"/>
            <a:ext cx="3108960" cy="685800"/>
          </a:xfrm>
          <a:prstGeom prst="rect">
            <a:avLst/>
          </a:prstGeom>
          <a:noFill/>
          <a:ln/>
        </p:spPr>
        <p:txBody>
          <a:bodyPr wrap="square" lIns="0" tIns="0" rIns="0" bIns="0" rtlCol="0" anchor="ctr"/>
          <a:lstStyle/>
          <a:p>
            <a:pPr marL="0" indent="0">
              <a:buNone/>
            </a:pPr>
            <a:r>
              <a:rPr lang="en-US" sz="1600" dirty="0">
                <a:solidFill>
                  <a:schemeClr val="tx1"/>
                </a:solidFill>
              </a:rPr>
              <a:t>Browse, search, and filter reports.</a:t>
            </a:r>
            <a:endParaRPr lang="en-US" sz="1600" dirty="0"/>
          </a:p>
        </p:txBody>
      </p:sp>
      <p:sp>
        <p:nvSpPr>
          <p:cNvPr id="27" name="Feature Card 5"/>
          <p:cNvSpPr/>
          <p:nvPr/>
        </p:nvSpPr>
        <p:spPr>
          <a:xfrm>
            <a:off x="548640" y="2871216"/>
            <a:ext cx="3931920" cy="685800"/>
          </a:xfrm>
          <a:prstGeom prst="roundRect">
            <a:avLst>
              <a:gd name="adj" fmla="val 16129"/>
            </a:avLst>
          </a:prstGeom>
          <a:solidFill>
            <a:schemeClr val="bg2"/>
          </a:solidFill>
          <a:ln/>
        </p:spPr>
      </p:sp>
      <p:sp>
        <p:nvSpPr>
          <p:cNvPr id="28" name="Feature Circle 5"/>
          <p:cNvSpPr/>
          <p:nvPr/>
        </p:nvSpPr>
        <p:spPr>
          <a:xfrm>
            <a:off x="685800" y="3008376"/>
            <a:ext cx="411480" cy="411480"/>
          </a:xfrm>
          <a:prstGeom prst="ellipse">
            <a:avLst/>
          </a:prstGeom>
          <a:solidFill>
            <a:schemeClr val="accent1"/>
          </a:solidFill>
          <a:ln/>
        </p:spPr>
      </p:sp>
      <p:pic>
        <p:nvPicPr>
          <p:cNvPr id="29" name="Image 4" descr="Check icon"/>
          <p:cNvPicPr>
            <a:picLocks noChangeAspect="1"/>
          </p:cNvPicPr>
          <p:nvPr/>
        </p:nvPicPr>
        <p:blipFill>
          <a:blip r:embed="rId2"/>
          <a:stretch>
            <a:fillRect/>
          </a:stretch>
        </p:blipFill>
        <p:spPr>
          <a:xfrm>
            <a:off x="777240" y="3099816"/>
            <a:ext cx="228600" cy="228600"/>
          </a:xfrm>
          <a:prstGeom prst="rect">
            <a:avLst/>
          </a:prstGeom>
        </p:spPr>
      </p:pic>
      <p:sp>
        <p:nvSpPr>
          <p:cNvPr id="30" name="Feature Text 5"/>
          <p:cNvSpPr txBox="1"/>
          <p:nvPr/>
        </p:nvSpPr>
        <p:spPr>
          <a:xfrm>
            <a:off x="1234440" y="2871216"/>
            <a:ext cx="3108960" cy="685800"/>
          </a:xfrm>
          <a:prstGeom prst="rect">
            <a:avLst/>
          </a:prstGeom>
          <a:noFill/>
          <a:ln/>
        </p:spPr>
        <p:txBody>
          <a:bodyPr wrap="square" lIns="0" tIns="0" rIns="0" bIns="0" rtlCol="0" anchor="ctr"/>
          <a:lstStyle/>
          <a:p>
            <a:pPr marL="0" indent="0">
              <a:buNone/>
            </a:pPr>
            <a:r>
              <a:rPr lang="en-US" sz="1600" dirty="0">
                <a:solidFill>
                  <a:schemeClr val="tx1"/>
                </a:solidFill>
              </a:rPr>
              <a:t>View complete details of reported items.</a:t>
            </a:r>
            <a:endParaRPr lang="en-US" sz="1600" dirty="0"/>
          </a:p>
        </p:txBody>
      </p:sp>
      <p:sp>
        <p:nvSpPr>
          <p:cNvPr id="31" name="Feature Card 6"/>
          <p:cNvSpPr/>
          <p:nvPr/>
        </p:nvSpPr>
        <p:spPr>
          <a:xfrm>
            <a:off x="4663440" y="2871216"/>
            <a:ext cx="3931920" cy="685800"/>
          </a:xfrm>
          <a:prstGeom prst="roundRect">
            <a:avLst>
              <a:gd name="adj" fmla="val 16129"/>
            </a:avLst>
          </a:prstGeom>
          <a:solidFill>
            <a:schemeClr val="bg2"/>
          </a:solidFill>
          <a:ln/>
        </p:spPr>
      </p:sp>
      <p:sp>
        <p:nvSpPr>
          <p:cNvPr id="32" name="Feature Circle 6"/>
          <p:cNvSpPr/>
          <p:nvPr/>
        </p:nvSpPr>
        <p:spPr>
          <a:xfrm>
            <a:off x="4800600" y="3008376"/>
            <a:ext cx="411480" cy="411480"/>
          </a:xfrm>
          <a:prstGeom prst="ellipse">
            <a:avLst/>
          </a:prstGeom>
          <a:solidFill>
            <a:schemeClr val="accent1"/>
          </a:solidFill>
          <a:ln/>
        </p:spPr>
      </p:sp>
      <p:pic>
        <p:nvPicPr>
          <p:cNvPr id="33" name="Image 5" descr="Check icon"/>
          <p:cNvPicPr>
            <a:picLocks noChangeAspect="1"/>
          </p:cNvPicPr>
          <p:nvPr/>
        </p:nvPicPr>
        <p:blipFill>
          <a:blip r:embed="rId2"/>
          <a:stretch>
            <a:fillRect/>
          </a:stretch>
        </p:blipFill>
        <p:spPr>
          <a:xfrm>
            <a:off x="4892040" y="3099816"/>
            <a:ext cx="228600" cy="228600"/>
          </a:xfrm>
          <a:prstGeom prst="rect">
            <a:avLst/>
          </a:prstGeom>
        </p:spPr>
      </p:pic>
      <p:sp>
        <p:nvSpPr>
          <p:cNvPr id="34" name="Feature Text 6"/>
          <p:cNvSpPr txBox="1"/>
          <p:nvPr/>
        </p:nvSpPr>
        <p:spPr>
          <a:xfrm>
            <a:off x="5349240" y="2871216"/>
            <a:ext cx="3108960" cy="685800"/>
          </a:xfrm>
          <a:prstGeom prst="rect">
            <a:avLst/>
          </a:prstGeom>
          <a:noFill/>
          <a:ln/>
        </p:spPr>
        <p:txBody>
          <a:bodyPr wrap="square" lIns="0" tIns="0" rIns="0" bIns="0" rtlCol="0" anchor="ctr"/>
          <a:lstStyle/>
          <a:p>
            <a:pPr marL="0" indent="0">
              <a:buNone/>
            </a:pPr>
            <a:r>
              <a:rPr lang="en-US" sz="1600" dirty="0">
                <a:solidFill>
                  <a:schemeClr val="tx1"/>
                </a:solidFill>
              </a:rPr>
              <a:t>Admin can mark items as returned or delete reports.</a:t>
            </a:r>
            <a:endParaRPr lang="en-US" sz="1600" dirty="0"/>
          </a:p>
        </p:txBody>
      </p:sp>
      <p:sp>
        <p:nvSpPr>
          <p:cNvPr id="35" name="Feature Card 7"/>
          <p:cNvSpPr/>
          <p:nvPr/>
        </p:nvSpPr>
        <p:spPr>
          <a:xfrm>
            <a:off x="548640" y="3666744"/>
            <a:ext cx="8046720" cy="685800"/>
          </a:xfrm>
          <a:prstGeom prst="roundRect">
            <a:avLst>
              <a:gd name="adj" fmla="val 16129"/>
            </a:avLst>
          </a:prstGeom>
          <a:solidFill>
            <a:schemeClr val="bg2"/>
          </a:solidFill>
          <a:ln/>
        </p:spPr>
      </p:sp>
      <p:sp>
        <p:nvSpPr>
          <p:cNvPr id="36" name="Feature Circle 7"/>
          <p:cNvSpPr/>
          <p:nvPr/>
        </p:nvSpPr>
        <p:spPr>
          <a:xfrm>
            <a:off x="685800" y="3803904"/>
            <a:ext cx="411480" cy="411480"/>
          </a:xfrm>
          <a:prstGeom prst="ellipse">
            <a:avLst/>
          </a:prstGeom>
          <a:solidFill>
            <a:schemeClr val="accent1"/>
          </a:solidFill>
          <a:ln/>
        </p:spPr>
      </p:sp>
      <p:pic>
        <p:nvPicPr>
          <p:cNvPr id="37" name="Image 6" descr="Check icon"/>
          <p:cNvPicPr>
            <a:picLocks noChangeAspect="1"/>
          </p:cNvPicPr>
          <p:nvPr/>
        </p:nvPicPr>
        <p:blipFill>
          <a:blip r:embed="rId2"/>
          <a:stretch>
            <a:fillRect/>
          </a:stretch>
        </p:blipFill>
        <p:spPr>
          <a:xfrm>
            <a:off x="777240" y="3895344"/>
            <a:ext cx="228600" cy="228600"/>
          </a:xfrm>
          <a:prstGeom prst="rect">
            <a:avLst/>
          </a:prstGeom>
        </p:spPr>
      </p:pic>
      <p:sp>
        <p:nvSpPr>
          <p:cNvPr id="38" name="Feature Text 7"/>
          <p:cNvSpPr txBox="1"/>
          <p:nvPr/>
        </p:nvSpPr>
        <p:spPr>
          <a:xfrm>
            <a:off x="1234440" y="3666744"/>
            <a:ext cx="7223760" cy="685800"/>
          </a:xfrm>
          <a:prstGeom prst="rect">
            <a:avLst/>
          </a:prstGeom>
          <a:noFill/>
          <a:ln/>
        </p:spPr>
        <p:txBody>
          <a:bodyPr wrap="square" lIns="0" tIns="0" rIns="0" bIns="0" rtlCol="0" anchor="ctr"/>
          <a:lstStyle/>
          <a:p>
            <a:pPr marL="0" indent="0">
              <a:buNone/>
            </a:pPr>
            <a:r>
              <a:rPr lang="en-US" sz="1600" dirty="0">
                <a:solidFill>
                  <a:schemeClr val="tx1"/>
                </a:solidFill>
              </a:rPr>
              <a:t>Images are stored using Cloudinary.</a:t>
            </a:r>
            <a:endParaRPr lang="en-US" sz="16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85"/>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600" b="1" dirty="0">
                <a:solidFill>
                  <a:schemeClr val="tx2"/>
                </a:solidFill>
              </a:rPr>
              <a:t>Working of the Project</a:t>
            </a:r>
            <a:endParaRPr lang="en-US" sz="3600" dirty="0"/>
          </a:p>
        </p:txBody>
      </p:sp>
      <p:sp>
        <p:nvSpPr>
          <p:cNvPr id="4" name="Step Connector"/>
          <p:cNvSpPr/>
          <p:nvPr/>
        </p:nvSpPr>
        <p:spPr>
          <a:xfrm>
            <a:off x="1181100" y="1645920"/>
            <a:ext cx="6781800" cy="0"/>
          </a:xfrm>
          <a:prstGeom prst="line">
            <a:avLst/>
          </a:prstGeom>
          <a:noFill/>
          <a:ln w="31750">
            <a:solidFill>
              <a:srgbClr val="81C3D7"/>
            </a:solidFill>
            <a:prstDash val="solid"/>
          </a:ln>
        </p:spPr>
      </p:sp>
      <p:sp>
        <p:nvSpPr>
          <p:cNvPr id="11" name="Step Card 1"/>
          <p:cNvSpPr/>
          <p:nvPr/>
        </p:nvSpPr>
        <p:spPr>
          <a:xfrm>
            <a:off x="548640" y="2103120"/>
            <a:ext cx="1264920" cy="2331720"/>
          </a:xfrm>
          <a:prstGeom prst="roundRect">
            <a:avLst>
              <a:gd name="adj" fmla="val 6250"/>
            </a:avLst>
          </a:prstGeom>
          <a:solidFill>
            <a:schemeClr val="bg2"/>
          </a:solidFill>
          <a:ln/>
        </p:spPr>
      </p:sp>
      <p:sp>
        <p:nvSpPr>
          <p:cNvPr id="12" name="Step Circle 1"/>
          <p:cNvSpPr/>
          <p:nvPr/>
        </p:nvSpPr>
        <p:spPr>
          <a:xfrm>
            <a:off x="906780" y="1371600"/>
            <a:ext cx="548640" cy="548640"/>
          </a:xfrm>
          <a:prstGeom prst="ellipse">
            <a:avLst/>
          </a:prstGeom>
          <a:solidFill>
            <a:schemeClr val="accent1"/>
          </a:solidFill>
          <a:ln/>
        </p:spPr>
      </p:sp>
      <p:sp>
        <p:nvSpPr>
          <p:cNvPr id="13" name="Step Number 1"/>
          <p:cNvSpPr txBox="1"/>
          <p:nvPr/>
        </p:nvSpPr>
        <p:spPr>
          <a:xfrm>
            <a:off x="906780" y="13716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4" name="Step Title 1"/>
          <p:cNvSpPr txBox="1"/>
          <p:nvPr/>
        </p:nvSpPr>
        <p:spPr>
          <a:xfrm>
            <a:off x="640080" y="2240280"/>
            <a:ext cx="1082040" cy="365760"/>
          </a:xfrm>
          <a:prstGeom prst="rect">
            <a:avLst/>
          </a:prstGeom>
          <a:noFill/>
          <a:ln/>
        </p:spPr>
        <p:txBody>
          <a:bodyPr wrap="square" lIns="0" tIns="0" rIns="0" bIns="0" rtlCol="0" anchor="ctr"/>
          <a:lstStyle/>
          <a:p>
            <a:pPr marL="0" indent="0">
              <a:buNone/>
            </a:pPr>
            <a:r>
              <a:rPr lang="en-US" sz="1800" b="1" dirty="0">
                <a:solidFill>
                  <a:schemeClr val="tx2"/>
                </a:solidFill>
              </a:rPr>
              <a:t>Login</a:t>
            </a:r>
            <a:endParaRPr lang="en-US" sz="1800" dirty="0"/>
          </a:p>
        </p:txBody>
      </p:sp>
      <p:sp>
        <p:nvSpPr>
          <p:cNvPr id="15" name="Step Text 1"/>
          <p:cNvSpPr txBox="1"/>
          <p:nvPr/>
        </p:nvSpPr>
        <p:spPr>
          <a:xfrm>
            <a:off x="640080" y="2651760"/>
            <a:ext cx="1082040" cy="1691640"/>
          </a:xfrm>
          <a:prstGeom prst="rect">
            <a:avLst/>
          </a:prstGeom>
          <a:noFill/>
          <a:ln/>
        </p:spPr>
        <p:txBody>
          <a:bodyPr wrap="square" lIns="0" tIns="0" rIns="0" bIns="0" rtlCol="0" anchor="t"/>
          <a:lstStyle/>
          <a:p>
            <a:pPr marL="0" indent="0">
              <a:buNone/>
            </a:pPr>
            <a:r>
              <a:rPr lang="en-US" sz="1400" dirty="0">
                <a:solidFill>
                  <a:schemeClr val="tx1"/>
                </a:solidFill>
              </a:rPr>
              <a:t>Students register and log in to the application.</a:t>
            </a:r>
            <a:endParaRPr lang="en-US" sz="1400" dirty="0"/>
          </a:p>
        </p:txBody>
      </p:sp>
      <p:sp>
        <p:nvSpPr>
          <p:cNvPr id="16" name="Step Card 2"/>
          <p:cNvSpPr/>
          <p:nvPr/>
        </p:nvSpPr>
        <p:spPr>
          <a:xfrm>
            <a:off x="1905000" y="2103120"/>
            <a:ext cx="1264920" cy="2331720"/>
          </a:xfrm>
          <a:prstGeom prst="roundRect">
            <a:avLst>
              <a:gd name="adj" fmla="val 6250"/>
            </a:avLst>
          </a:prstGeom>
          <a:solidFill>
            <a:schemeClr val="bg2"/>
          </a:solidFill>
          <a:ln/>
        </p:spPr>
      </p:sp>
      <p:sp>
        <p:nvSpPr>
          <p:cNvPr id="17" name="Step Circle 2"/>
          <p:cNvSpPr/>
          <p:nvPr/>
        </p:nvSpPr>
        <p:spPr>
          <a:xfrm>
            <a:off x="2263140" y="1371600"/>
            <a:ext cx="548640" cy="548640"/>
          </a:xfrm>
          <a:prstGeom prst="ellipse">
            <a:avLst/>
          </a:prstGeom>
          <a:solidFill>
            <a:schemeClr val="accent1"/>
          </a:solidFill>
          <a:ln/>
        </p:spPr>
      </p:sp>
      <p:sp>
        <p:nvSpPr>
          <p:cNvPr id="18" name="Step Number 2"/>
          <p:cNvSpPr txBox="1"/>
          <p:nvPr/>
        </p:nvSpPr>
        <p:spPr>
          <a:xfrm>
            <a:off x="2263140" y="13716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9" name="Step Title 2"/>
          <p:cNvSpPr txBox="1"/>
          <p:nvPr/>
        </p:nvSpPr>
        <p:spPr>
          <a:xfrm>
            <a:off x="1996440" y="2240280"/>
            <a:ext cx="1082040" cy="365760"/>
          </a:xfrm>
          <a:prstGeom prst="rect">
            <a:avLst/>
          </a:prstGeom>
          <a:noFill/>
          <a:ln/>
        </p:spPr>
        <p:txBody>
          <a:bodyPr wrap="square" lIns="0" tIns="0" rIns="0" bIns="0" rtlCol="0" anchor="ctr"/>
          <a:lstStyle/>
          <a:p>
            <a:pPr marL="0" indent="0">
              <a:buNone/>
            </a:pPr>
            <a:r>
              <a:rPr lang="en-US" sz="1800" b="1" dirty="0">
                <a:solidFill>
                  <a:schemeClr val="tx2"/>
                </a:solidFill>
              </a:rPr>
              <a:t>Report</a:t>
            </a:r>
            <a:endParaRPr lang="en-US" sz="1800" dirty="0"/>
          </a:p>
        </p:txBody>
      </p:sp>
      <p:sp>
        <p:nvSpPr>
          <p:cNvPr id="20" name="Step Text 2"/>
          <p:cNvSpPr txBox="1"/>
          <p:nvPr/>
        </p:nvSpPr>
        <p:spPr>
          <a:xfrm>
            <a:off x="1996440" y="2651760"/>
            <a:ext cx="1082040" cy="1691640"/>
          </a:xfrm>
          <a:prstGeom prst="rect">
            <a:avLst/>
          </a:prstGeom>
          <a:noFill/>
          <a:ln/>
        </p:spPr>
        <p:txBody>
          <a:bodyPr wrap="square" lIns="0" tIns="0" rIns="0" bIns="0" rtlCol="0" anchor="t"/>
          <a:lstStyle/>
          <a:p>
            <a:pPr marL="0" indent="0">
              <a:buNone/>
            </a:pPr>
            <a:r>
              <a:rPr lang="en-US" sz="1400" dirty="0">
                <a:solidFill>
                  <a:schemeClr val="tx1"/>
                </a:solidFill>
              </a:rPr>
              <a:t>Students submit lost or found item details with an image.</a:t>
            </a:r>
            <a:endParaRPr lang="en-US" sz="1400" dirty="0"/>
          </a:p>
        </p:txBody>
      </p:sp>
      <p:sp>
        <p:nvSpPr>
          <p:cNvPr id="21" name="Step Card 3"/>
          <p:cNvSpPr/>
          <p:nvPr/>
        </p:nvSpPr>
        <p:spPr>
          <a:xfrm>
            <a:off x="3261360" y="2103120"/>
            <a:ext cx="1264920" cy="2331720"/>
          </a:xfrm>
          <a:prstGeom prst="roundRect">
            <a:avLst>
              <a:gd name="adj" fmla="val 6250"/>
            </a:avLst>
          </a:prstGeom>
          <a:solidFill>
            <a:schemeClr val="bg2"/>
          </a:solidFill>
          <a:ln/>
        </p:spPr>
      </p:sp>
      <p:sp>
        <p:nvSpPr>
          <p:cNvPr id="22" name="Step Circle 3"/>
          <p:cNvSpPr/>
          <p:nvPr/>
        </p:nvSpPr>
        <p:spPr>
          <a:xfrm>
            <a:off x="3619500" y="1371600"/>
            <a:ext cx="548640" cy="548640"/>
          </a:xfrm>
          <a:prstGeom prst="ellipse">
            <a:avLst/>
          </a:prstGeom>
          <a:solidFill>
            <a:schemeClr val="accent1"/>
          </a:solidFill>
          <a:ln/>
        </p:spPr>
      </p:sp>
      <p:sp>
        <p:nvSpPr>
          <p:cNvPr id="23" name="Step Number 3"/>
          <p:cNvSpPr txBox="1"/>
          <p:nvPr/>
        </p:nvSpPr>
        <p:spPr>
          <a:xfrm>
            <a:off x="3619500" y="13716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4" name="Step Title 3"/>
          <p:cNvSpPr txBox="1"/>
          <p:nvPr/>
        </p:nvSpPr>
        <p:spPr>
          <a:xfrm>
            <a:off x="3352800" y="2240280"/>
            <a:ext cx="1082040" cy="365760"/>
          </a:xfrm>
          <a:prstGeom prst="rect">
            <a:avLst/>
          </a:prstGeom>
          <a:noFill/>
          <a:ln/>
        </p:spPr>
        <p:txBody>
          <a:bodyPr wrap="square" lIns="0" tIns="0" rIns="0" bIns="0" rtlCol="0" anchor="ctr"/>
          <a:lstStyle/>
          <a:p>
            <a:pPr marL="0" indent="0">
              <a:buNone/>
            </a:pPr>
            <a:r>
              <a:rPr lang="en-US" sz="1800" b="1" dirty="0">
                <a:solidFill>
                  <a:schemeClr val="tx2"/>
                </a:solidFill>
              </a:rPr>
              <a:t>Store</a:t>
            </a:r>
            <a:endParaRPr lang="en-US" sz="1800" dirty="0"/>
          </a:p>
        </p:txBody>
      </p:sp>
      <p:sp>
        <p:nvSpPr>
          <p:cNvPr id="25" name="Step Text 3"/>
          <p:cNvSpPr txBox="1"/>
          <p:nvPr/>
        </p:nvSpPr>
        <p:spPr>
          <a:xfrm>
            <a:off x="3352800" y="2651760"/>
            <a:ext cx="1082040" cy="1691640"/>
          </a:xfrm>
          <a:prstGeom prst="rect">
            <a:avLst/>
          </a:prstGeom>
          <a:noFill/>
          <a:ln/>
        </p:spPr>
        <p:txBody>
          <a:bodyPr wrap="square" lIns="0" tIns="0" rIns="0" bIns="0" rtlCol="0" anchor="t"/>
          <a:lstStyle/>
          <a:p>
            <a:pPr marL="0" indent="0">
              <a:buNone/>
            </a:pPr>
            <a:r>
              <a:rPr lang="en-US" sz="1400" dirty="0">
                <a:solidFill>
                  <a:schemeClr val="tx1"/>
                </a:solidFill>
              </a:rPr>
              <a:t>Report information is stored in TiDB Cloud, and images are uploaded to Cloudinary.</a:t>
            </a:r>
            <a:endParaRPr lang="en-US" sz="1400" dirty="0"/>
          </a:p>
        </p:txBody>
      </p:sp>
      <p:sp>
        <p:nvSpPr>
          <p:cNvPr id="26" name="Step Card 4"/>
          <p:cNvSpPr/>
          <p:nvPr/>
        </p:nvSpPr>
        <p:spPr>
          <a:xfrm>
            <a:off x="4617720" y="2103120"/>
            <a:ext cx="1264920" cy="2331720"/>
          </a:xfrm>
          <a:prstGeom prst="roundRect">
            <a:avLst>
              <a:gd name="adj" fmla="val 6250"/>
            </a:avLst>
          </a:prstGeom>
          <a:solidFill>
            <a:schemeClr val="bg2"/>
          </a:solidFill>
          <a:ln/>
        </p:spPr>
      </p:sp>
      <p:sp>
        <p:nvSpPr>
          <p:cNvPr id="27" name="Step Circle 4"/>
          <p:cNvSpPr/>
          <p:nvPr/>
        </p:nvSpPr>
        <p:spPr>
          <a:xfrm>
            <a:off x="4975860" y="1371600"/>
            <a:ext cx="548640" cy="548640"/>
          </a:xfrm>
          <a:prstGeom prst="ellipse">
            <a:avLst/>
          </a:prstGeom>
          <a:solidFill>
            <a:schemeClr val="accent1"/>
          </a:solidFill>
          <a:ln/>
        </p:spPr>
      </p:sp>
      <p:sp>
        <p:nvSpPr>
          <p:cNvPr id="28" name="Step Number 4"/>
          <p:cNvSpPr txBox="1"/>
          <p:nvPr/>
        </p:nvSpPr>
        <p:spPr>
          <a:xfrm>
            <a:off x="4975860" y="13716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9" name="Step Title 4"/>
          <p:cNvSpPr txBox="1"/>
          <p:nvPr/>
        </p:nvSpPr>
        <p:spPr>
          <a:xfrm>
            <a:off x="4709160" y="2240280"/>
            <a:ext cx="1082040" cy="365760"/>
          </a:xfrm>
          <a:prstGeom prst="rect">
            <a:avLst/>
          </a:prstGeom>
          <a:noFill/>
          <a:ln/>
        </p:spPr>
        <p:txBody>
          <a:bodyPr wrap="square" lIns="0" tIns="0" rIns="0" bIns="0" rtlCol="0" anchor="ctr"/>
          <a:lstStyle/>
          <a:p>
            <a:pPr marL="0" indent="0">
              <a:buNone/>
            </a:pPr>
            <a:r>
              <a:rPr lang="en-US" sz="1800" b="1" dirty="0">
                <a:solidFill>
                  <a:schemeClr val="tx2"/>
                </a:solidFill>
              </a:rPr>
              <a:t>Browse</a:t>
            </a:r>
            <a:endParaRPr lang="en-US" sz="1800" dirty="0"/>
          </a:p>
        </p:txBody>
      </p:sp>
      <p:sp>
        <p:nvSpPr>
          <p:cNvPr id="30" name="Step Text 4"/>
          <p:cNvSpPr txBox="1"/>
          <p:nvPr/>
        </p:nvSpPr>
        <p:spPr>
          <a:xfrm>
            <a:off x="4709160" y="2651760"/>
            <a:ext cx="1082040" cy="1691640"/>
          </a:xfrm>
          <a:prstGeom prst="rect">
            <a:avLst/>
          </a:prstGeom>
          <a:noFill/>
          <a:ln/>
        </p:spPr>
        <p:txBody>
          <a:bodyPr wrap="square" lIns="0" tIns="0" rIns="0" bIns="0" rtlCol="0" anchor="t"/>
          <a:lstStyle/>
          <a:p>
            <a:pPr marL="0" indent="0">
              <a:buNone/>
            </a:pPr>
            <a:r>
              <a:rPr lang="en-US" sz="1400" dirty="0">
                <a:solidFill>
                  <a:schemeClr val="tx1"/>
                </a:solidFill>
              </a:rPr>
              <a:t>Students can search, filter, and view available reports.</a:t>
            </a:r>
            <a:endParaRPr lang="en-US" sz="1400" dirty="0"/>
          </a:p>
        </p:txBody>
      </p:sp>
      <p:sp>
        <p:nvSpPr>
          <p:cNvPr id="31" name="Step Card 5"/>
          <p:cNvSpPr/>
          <p:nvPr/>
        </p:nvSpPr>
        <p:spPr>
          <a:xfrm>
            <a:off x="5974080" y="2103120"/>
            <a:ext cx="1264920" cy="2331720"/>
          </a:xfrm>
          <a:prstGeom prst="roundRect">
            <a:avLst>
              <a:gd name="adj" fmla="val 6250"/>
            </a:avLst>
          </a:prstGeom>
          <a:solidFill>
            <a:schemeClr val="bg2"/>
          </a:solidFill>
          <a:ln/>
        </p:spPr>
      </p:sp>
      <p:sp>
        <p:nvSpPr>
          <p:cNvPr id="32" name="Step Circle 5"/>
          <p:cNvSpPr/>
          <p:nvPr/>
        </p:nvSpPr>
        <p:spPr>
          <a:xfrm>
            <a:off x="6332220" y="1371600"/>
            <a:ext cx="548640" cy="548640"/>
          </a:xfrm>
          <a:prstGeom prst="ellipse">
            <a:avLst/>
          </a:prstGeom>
          <a:solidFill>
            <a:schemeClr val="accent1"/>
          </a:solidFill>
          <a:ln/>
        </p:spPr>
      </p:sp>
      <p:sp>
        <p:nvSpPr>
          <p:cNvPr id="33" name="Step Number 5"/>
          <p:cNvSpPr txBox="1"/>
          <p:nvPr/>
        </p:nvSpPr>
        <p:spPr>
          <a:xfrm>
            <a:off x="6332220" y="13716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34" name="Step Title 5"/>
          <p:cNvSpPr txBox="1"/>
          <p:nvPr/>
        </p:nvSpPr>
        <p:spPr>
          <a:xfrm>
            <a:off x="6065520" y="2240280"/>
            <a:ext cx="1082040" cy="365760"/>
          </a:xfrm>
          <a:prstGeom prst="rect">
            <a:avLst/>
          </a:prstGeom>
          <a:noFill/>
          <a:ln/>
        </p:spPr>
        <p:txBody>
          <a:bodyPr wrap="square" lIns="0" tIns="0" rIns="0" bIns="0" rtlCol="0" anchor="ctr"/>
          <a:lstStyle/>
          <a:p>
            <a:pPr marL="0" indent="0">
              <a:buNone/>
            </a:pPr>
            <a:r>
              <a:rPr lang="en-US" sz="1800" b="1" dirty="0">
                <a:solidFill>
                  <a:schemeClr val="tx2"/>
                </a:solidFill>
              </a:rPr>
              <a:t>Manage</a:t>
            </a:r>
            <a:endParaRPr lang="en-US" sz="1800" dirty="0"/>
          </a:p>
        </p:txBody>
      </p:sp>
      <p:sp>
        <p:nvSpPr>
          <p:cNvPr id="35" name="Step Text 5"/>
          <p:cNvSpPr txBox="1"/>
          <p:nvPr/>
        </p:nvSpPr>
        <p:spPr>
          <a:xfrm>
            <a:off x="6065520" y="2651760"/>
            <a:ext cx="1082040" cy="1691640"/>
          </a:xfrm>
          <a:prstGeom prst="rect">
            <a:avLst/>
          </a:prstGeom>
          <a:noFill/>
          <a:ln/>
        </p:spPr>
        <p:txBody>
          <a:bodyPr wrap="square" lIns="0" tIns="0" rIns="0" bIns="0" rtlCol="0" anchor="t"/>
          <a:lstStyle/>
          <a:p>
            <a:pPr marL="0" indent="0">
              <a:buNone/>
            </a:pPr>
            <a:r>
              <a:rPr lang="en-US" sz="1400" dirty="0">
                <a:solidFill>
                  <a:schemeClr val="tx1"/>
                </a:solidFill>
              </a:rPr>
              <a:t>Admin can manage reports and update their status.</a:t>
            </a:r>
            <a:endParaRPr lang="en-US" sz="1400" dirty="0"/>
          </a:p>
        </p:txBody>
      </p:sp>
      <p:sp>
        <p:nvSpPr>
          <p:cNvPr id="36" name="Step Card 6"/>
          <p:cNvSpPr/>
          <p:nvPr/>
        </p:nvSpPr>
        <p:spPr>
          <a:xfrm>
            <a:off x="7330440" y="2103120"/>
            <a:ext cx="1264920" cy="2331720"/>
          </a:xfrm>
          <a:prstGeom prst="roundRect">
            <a:avLst>
              <a:gd name="adj" fmla="val 6250"/>
            </a:avLst>
          </a:prstGeom>
          <a:solidFill>
            <a:schemeClr val="bg2"/>
          </a:solidFill>
          <a:ln/>
        </p:spPr>
      </p:sp>
      <p:sp>
        <p:nvSpPr>
          <p:cNvPr id="37" name="Step Circle 6"/>
          <p:cNvSpPr/>
          <p:nvPr/>
        </p:nvSpPr>
        <p:spPr>
          <a:xfrm>
            <a:off x="7688580" y="1371600"/>
            <a:ext cx="548640" cy="548640"/>
          </a:xfrm>
          <a:prstGeom prst="ellipse">
            <a:avLst/>
          </a:prstGeom>
          <a:solidFill>
            <a:schemeClr val="accent1"/>
          </a:solidFill>
          <a:ln/>
        </p:spPr>
      </p:sp>
      <p:sp>
        <p:nvSpPr>
          <p:cNvPr id="38" name="Step Number 6"/>
          <p:cNvSpPr txBox="1"/>
          <p:nvPr/>
        </p:nvSpPr>
        <p:spPr>
          <a:xfrm>
            <a:off x="7688580" y="13716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39" name="Step Title 6"/>
          <p:cNvSpPr txBox="1"/>
          <p:nvPr/>
        </p:nvSpPr>
        <p:spPr>
          <a:xfrm>
            <a:off x="7421880" y="2240280"/>
            <a:ext cx="1082040" cy="365760"/>
          </a:xfrm>
          <a:prstGeom prst="rect">
            <a:avLst/>
          </a:prstGeom>
          <a:noFill/>
          <a:ln/>
        </p:spPr>
        <p:txBody>
          <a:bodyPr wrap="square" lIns="0" tIns="0" rIns="0" bIns="0" rtlCol="0" anchor="ctr"/>
          <a:lstStyle/>
          <a:p>
            <a:pPr marL="0" indent="0">
              <a:buNone/>
            </a:pPr>
            <a:r>
              <a:rPr lang="en-US" sz="1800" b="1" dirty="0">
                <a:solidFill>
                  <a:schemeClr val="tx2"/>
                </a:solidFill>
              </a:rPr>
              <a:t>Recover</a:t>
            </a:r>
            <a:endParaRPr lang="en-US" sz="1800" dirty="0"/>
          </a:p>
        </p:txBody>
      </p:sp>
      <p:sp>
        <p:nvSpPr>
          <p:cNvPr id="40" name="Step Text 6"/>
          <p:cNvSpPr txBox="1"/>
          <p:nvPr/>
        </p:nvSpPr>
        <p:spPr>
          <a:xfrm>
            <a:off x="7421880" y="2651760"/>
            <a:ext cx="1082040" cy="1691640"/>
          </a:xfrm>
          <a:prstGeom prst="rect">
            <a:avLst/>
          </a:prstGeom>
          <a:noFill/>
          <a:ln/>
        </p:spPr>
        <p:txBody>
          <a:bodyPr wrap="square" lIns="0" tIns="0" rIns="0" bIns="0" rtlCol="0" anchor="t"/>
          <a:lstStyle/>
          <a:p>
            <a:pPr marL="0" indent="0">
              <a:buNone/>
            </a:pPr>
            <a:r>
              <a:rPr lang="en-US" sz="1400" dirty="0">
                <a:solidFill>
                  <a:schemeClr val="tx1"/>
                </a:solidFill>
              </a:rPr>
              <a:t>Once an item is returned, its status is updated.</a:t>
            </a:r>
            <a:endParaRPr lang="en-US" sz="1400" dirty="0"/>
          </a:p>
        </p:txBody>
      </p:sp>
      <p:sp>
        <p:nvSpPr>
          <p:cNvPr id="3"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85"/>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600" b="1" dirty="0">
                <a:solidFill>
                  <a:schemeClr val="tx2"/>
                </a:solidFill>
              </a:rPr>
              <a:t>Expected Outcome</a:t>
            </a:r>
            <a:endParaRPr lang="en-US" sz="3600" dirty="0"/>
          </a:p>
        </p:txBody>
      </p:sp>
      <p:pic>
        <p:nvPicPr>
          <p:cNvPr id="4" name="Image 0" descr="Check icon"/>
          <p:cNvPicPr>
            <a:picLocks noChangeAspect="1"/>
          </p:cNvPicPr>
          <p:nvPr/>
        </p:nvPicPr>
        <p:blipFill>
          <a:blip r:embed="rId3"/>
          <a:stretch>
            <a:fillRect/>
          </a:stretch>
        </p:blipFill>
        <p:spPr>
          <a:xfrm>
            <a:off x="548640" y="1413856"/>
            <a:ext cx="384048" cy="384048"/>
          </a:xfrm>
          <a:prstGeom prst="rect">
            <a:avLst/>
          </a:prstGeom>
        </p:spPr>
      </p:pic>
      <p:sp>
        <p:nvSpPr>
          <p:cNvPr id="5" name="Outcome 1"/>
          <p:cNvSpPr txBox="1"/>
          <p:nvPr/>
        </p:nvSpPr>
        <p:spPr>
          <a:xfrm>
            <a:off x="1143000" y="1325880"/>
            <a:ext cx="3931920" cy="560000"/>
          </a:xfrm>
          <a:prstGeom prst="rect">
            <a:avLst/>
          </a:prstGeom>
          <a:noFill/>
          <a:ln/>
        </p:spPr>
        <p:txBody>
          <a:bodyPr wrap="square" lIns="0" tIns="0" rIns="0" bIns="0" rtlCol="0" anchor="ctr"/>
          <a:lstStyle/>
          <a:p>
            <a:pPr marL="0" indent="0">
              <a:buNone/>
            </a:pPr>
            <a:r>
              <a:rPr lang="en-US" sz="1600" dirty="0">
                <a:solidFill>
                  <a:schemeClr val="tx1"/>
                </a:solidFill>
              </a:rPr>
              <a:t>A common platform for managing lost and found items.</a:t>
            </a:r>
            <a:endParaRPr lang="en-US" sz="1600" dirty="0"/>
          </a:p>
        </p:txBody>
      </p:sp>
      <p:pic>
        <p:nvPicPr>
          <p:cNvPr id="6" name="Image 1" descr="Check icon"/>
          <p:cNvPicPr>
            <a:picLocks noChangeAspect="1"/>
          </p:cNvPicPr>
          <p:nvPr/>
        </p:nvPicPr>
        <p:blipFill>
          <a:blip r:embed="rId3"/>
          <a:stretch>
            <a:fillRect/>
          </a:stretch>
        </p:blipFill>
        <p:spPr>
          <a:xfrm>
            <a:off x="548640" y="2043856"/>
            <a:ext cx="384048" cy="384048"/>
          </a:xfrm>
          <a:prstGeom prst="rect">
            <a:avLst/>
          </a:prstGeom>
        </p:spPr>
      </p:pic>
      <p:sp>
        <p:nvSpPr>
          <p:cNvPr id="7" name="Outcome 2"/>
          <p:cNvSpPr txBox="1"/>
          <p:nvPr/>
        </p:nvSpPr>
        <p:spPr>
          <a:xfrm>
            <a:off x="1143000" y="1955880"/>
            <a:ext cx="3931920" cy="560000"/>
          </a:xfrm>
          <a:prstGeom prst="rect">
            <a:avLst/>
          </a:prstGeom>
          <a:noFill/>
          <a:ln/>
        </p:spPr>
        <p:txBody>
          <a:bodyPr wrap="square" lIns="0" tIns="0" rIns="0" bIns="0" rtlCol="0" anchor="ctr"/>
          <a:lstStyle/>
          <a:p>
            <a:pPr marL="0" indent="0">
              <a:buNone/>
            </a:pPr>
            <a:r>
              <a:rPr lang="en-US" sz="1600" dirty="0">
                <a:solidFill>
                  <a:schemeClr val="tx1"/>
                </a:solidFill>
              </a:rPr>
              <a:t>Easy reporting and searching of belongings.</a:t>
            </a:r>
            <a:endParaRPr lang="en-US" sz="1600" dirty="0"/>
          </a:p>
        </p:txBody>
      </p:sp>
      <p:pic>
        <p:nvPicPr>
          <p:cNvPr id="8" name="Image 2" descr="Check icon"/>
          <p:cNvPicPr>
            <a:picLocks noChangeAspect="1"/>
          </p:cNvPicPr>
          <p:nvPr/>
        </p:nvPicPr>
        <p:blipFill>
          <a:blip r:embed="rId3"/>
          <a:stretch>
            <a:fillRect/>
          </a:stretch>
        </p:blipFill>
        <p:spPr>
          <a:xfrm>
            <a:off x="548640" y="2673856"/>
            <a:ext cx="384048" cy="384048"/>
          </a:xfrm>
          <a:prstGeom prst="rect">
            <a:avLst/>
          </a:prstGeom>
        </p:spPr>
      </p:pic>
      <p:sp>
        <p:nvSpPr>
          <p:cNvPr id="9" name="Outcome 3"/>
          <p:cNvSpPr txBox="1"/>
          <p:nvPr/>
        </p:nvSpPr>
        <p:spPr>
          <a:xfrm>
            <a:off x="1143000" y="2585880"/>
            <a:ext cx="3931920" cy="560000"/>
          </a:xfrm>
          <a:prstGeom prst="rect">
            <a:avLst/>
          </a:prstGeom>
          <a:noFill/>
          <a:ln/>
        </p:spPr>
        <p:txBody>
          <a:bodyPr wrap="square" lIns="0" tIns="0" rIns="0" bIns="0" rtlCol="0" anchor="ctr"/>
          <a:lstStyle/>
          <a:p>
            <a:pPr marL="0" indent="0">
              <a:buNone/>
            </a:pPr>
            <a:r>
              <a:rPr lang="en-US" sz="1600" dirty="0">
                <a:solidFill>
                  <a:schemeClr val="tx1"/>
                </a:solidFill>
              </a:rPr>
              <a:t>Image-based identification of reported items.</a:t>
            </a:r>
            <a:endParaRPr lang="en-US" sz="1600" dirty="0"/>
          </a:p>
        </p:txBody>
      </p:sp>
      <p:pic>
        <p:nvPicPr>
          <p:cNvPr id="10" name="Image 3" descr="Check icon"/>
          <p:cNvPicPr>
            <a:picLocks noChangeAspect="1"/>
          </p:cNvPicPr>
          <p:nvPr/>
        </p:nvPicPr>
        <p:blipFill>
          <a:blip r:embed="rId3"/>
          <a:stretch>
            <a:fillRect/>
          </a:stretch>
        </p:blipFill>
        <p:spPr>
          <a:xfrm>
            <a:off x="548640" y="3303856"/>
            <a:ext cx="384048" cy="384048"/>
          </a:xfrm>
          <a:prstGeom prst="rect">
            <a:avLst/>
          </a:prstGeom>
        </p:spPr>
      </p:pic>
      <p:sp>
        <p:nvSpPr>
          <p:cNvPr id="11" name="Outcome 4"/>
          <p:cNvSpPr txBox="1"/>
          <p:nvPr/>
        </p:nvSpPr>
        <p:spPr>
          <a:xfrm>
            <a:off x="1143000" y="3215880"/>
            <a:ext cx="3931920" cy="560000"/>
          </a:xfrm>
          <a:prstGeom prst="rect">
            <a:avLst/>
          </a:prstGeom>
          <a:noFill/>
          <a:ln/>
        </p:spPr>
        <p:txBody>
          <a:bodyPr wrap="square" lIns="0" tIns="0" rIns="0" bIns="0" rtlCol="0" anchor="ctr"/>
          <a:lstStyle/>
          <a:p>
            <a:pPr marL="0" indent="0">
              <a:buNone/>
            </a:pPr>
            <a:r>
              <a:rPr lang="en-US" sz="1600" dirty="0">
                <a:solidFill>
                  <a:schemeClr val="tx1"/>
                </a:solidFill>
              </a:rPr>
              <a:t>Organized storage of report and user information.</a:t>
            </a:r>
            <a:endParaRPr lang="en-US" sz="1600" dirty="0"/>
          </a:p>
        </p:txBody>
      </p:sp>
      <p:pic>
        <p:nvPicPr>
          <p:cNvPr id="41" name="Image 5" descr="Check icon"/>
          <p:cNvPicPr>
            <a:picLocks noChangeAspect="1"/>
          </p:cNvPicPr>
          <p:nvPr/>
        </p:nvPicPr>
        <p:blipFill>
          <a:blip r:embed="rId3"/>
          <a:stretch>
            <a:fillRect/>
          </a:stretch>
        </p:blipFill>
        <p:spPr>
          <a:xfrm>
            <a:off x="548640" y="3933856"/>
            <a:ext cx="384048" cy="384048"/>
          </a:xfrm>
          <a:prstGeom prst="rect">
            <a:avLst/>
          </a:prstGeom>
        </p:spPr>
      </p:pic>
      <p:sp>
        <p:nvSpPr>
          <p:cNvPr id="42" name="Outcome 5"/>
          <p:cNvSpPr txBox="1"/>
          <p:nvPr/>
        </p:nvSpPr>
        <p:spPr>
          <a:xfrm>
            <a:off x="1143000" y="3845880"/>
            <a:ext cx="3931920" cy="560000"/>
          </a:xfrm>
          <a:prstGeom prst="rect">
            <a:avLst/>
          </a:prstGeom>
          <a:noFill/>
          <a:ln/>
        </p:spPr>
        <p:txBody>
          <a:bodyPr wrap="square" lIns="0" tIns="0" rIns="0" bIns="0" rtlCol="0" anchor="ctr"/>
          <a:lstStyle/>
          <a:p>
            <a:pPr marL="0" indent="0">
              <a:buNone/>
            </a:pPr>
            <a:r>
              <a:rPr lang="en-US" sz="1600" dirty="0">
                <a:solidFill>
                  <a:schemeClr val="tx1"/>
                </a:solidFill>
              </a:rPr>
              <a:t>Better management of recovered items.</a:t>
            </a:r>
            <a:endParaRPr lang="en-US" sz="1600" dirty="0"/>
          </a:p>
        </p:txBody>
      </p:sp>
      <p:sp>
        <p:nvSpPr>
          <p:cNvPr id="12" name="Screenshot Placeholder"/>
          <p:cNvSpPr/>
          <p:nvPr/>
        </p:nvSpPr>
        <p:spPr>
          <a:xfrm>
            <a:off x="5394960" y="1325880"/>
            <a:ext cx="3200400" cy="3108960"/>
          </a:xfrm>
          <a:prstGeom prst="roundRect">
            <a:avLst>
              <a:gd name="adj" fmla="val 2941"/>
            </a:avLst>
          </a:prstGeom>
          <a:solidFill>
            <a:schemeClr val="bg2"/>
          </a:solidFill>
          <a:ln w="19050">
            <a:solidFill>
              <a:srgbClr val="0E7C86"/>
            </a:solidFill>
            <a:prstDash val="dash"/>
          </a:ln>
        </p:spPr>
      </p:sp>
      <p:pic>
        <p:nvPicPr>
          <p:cNvPr id="13" name="Image 4" descr="Image icon"/>
          <p:cNvPicPr>
            <a:picLocks noChangeAspect="1"/>
          </p:cNvPicPr>
          <p:nvPr/>
        </p:nvPicPr>
        <p:blipFill>
          <a:blip r:embed="rId4"/>
          <a:stretch>
            <a:fillRect/>
          </a:stretch>
        </p:blipFill>
        <p:spPr>
          <a:xfrm>
            <a:off x="6675120" y="2331720"/>
            <a:ext cx="640080" cy="640080"/>
          </a:xfrm>
          <a:prstGeom prst="rect">
            <a:avLst/>
          </a:prstGeom>
        </p:spPr>
      </p:pic>
      <p:sp>
        <p:nvSpPr>
          <p:cNvPr id="14" name="Screenshot Caption"/>
          <p:cNvSpPr txBox="1"/>
          <p:nvPr/>
        </p:nvSpPr>
        <p:spPr>
          <a:xfrm>
            <a:off x="5577840" y="3108960"/>
            <a:ext cx="2834640" cy="731520"/>
          </a:xfrm>
          <a:prstGeom prst="rect">
            <a:avLst/>
          </a:prstGeom>
          <a:noFill/>
          <a:ln/>
        </p:spPr>
        <p:txBody>
          <a:bodyPr wrap="square" lIns="0" tIns="0" rIns="0" bIns="0" rtlCol="0" anchor="t"/>
          <a:lstStyle/>
          <a:p>
            <a:pPr marL="0" indent="0" algn="ctr">
              <a:buNone/>
            </a:pPr>
            <a:endParaRPr lang="en-US" sz="14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85"/>
                </a:solidFill>
              </a:defRPr>
            </a:lvl1pPr>
          </a:lstStyle>
          <a:p>
            <a:pPr algn="l"/>
            <a:fld id="{F7021451-1387-4CA6-816F-3879F97B5CBC}" type="slidenum">
              <a:rPr lang="en-US" b="0"/>
              <a:t>8</a:t>
            </a:fld>
            <a:endParaRPr lang="en-US"/>
          </a:p>
        </p:txBody>
      </p:sp>
      <p:pic>
        <p:nvPicPr>
          <p:cNvPr id="15" name="Picture 14">
            <a:extLst>
              <a:ext uri="{FF2B5EF4-FFF2-40B4-BE49-F238E27FC236}">
                <a16:creationId xmlns:a16="http://schemas.microsoft.com/office/drawing/2014/main" id="{4D91C27D-D308-3469-8E65-4085C01EAF55}"/>
              </a:ext>
            </a:extLst>
          </p:cNvPr>
          <p:cNvPicPr>
            <a:picLocks noChangeAspect="1"/>
          </p:cNvPicPr>
          <p:nvPr/>
        </p:nvPicPr>
        <p:blipFill>
          <a:blip r:embed="rId5"/>
          <a:stretch>
            <a:fillRect/>
          </a:stretch>
        </p:blipFill>
        <p:spPr>
          <a:xfrm>
            <a:off x="5394960" y="1325880"/>
            <a:ext cx="3171593" cy="31089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48640"/>
            <a:ext cx="5303520" cy="731520"/>
          </a:xfrm>
          <a:prstGeom prst="rect">
            <a:avLst/>
          </a:prstGeom>
          <a:noFill/>
          <a:ln/>
        </p:spPr>
        <p:txBody>
          <a:bodyPr wrap="square" lIns="0" tIns="0" rIns="0" bIns="0" rtlCol="0" anchor="ctr"/>
          <a:lstStyle/>
          <a:p>
            <a:pPr marL="0" indent="0" algn="l">
              <a:buNone/>
            </a:pPr>
            <a:r>
              <a:rPr lang="en-US" sz="3600" b="1" dirty="0">
                <a:solidFill>
                  <a:schemeClr val="bg1"/>
                </a:solidFill>
              </a:rPr>
              <a:t>Conclusion</a:t>
            </a:r>
            <a:endParaRPr lang="en-US" sz="3600" dirty="0"/>
          </a:p>
        </p:txBody>
      </p:sp>
      <p:sp>
        <p:nvSpPr>
          <p:cNvPr id="3" name="Text 1"/>
          <p:cNvSpPr>
            <a:spLocks noGrp="1"/>
          </p:cNvSpPr>
          <p:nvPr>
            <p:ph type="body" idx="102" hasCustomPrompt="1"/>
          </p:nvPr>
        </p:nvSpPr>
        <p:spPr>
          <a:xfrm>
            <a:off x="548640" y="1463040"/>
            <a:ext cx="5303520" cy="2057400"/>
          </a:xfrm>
          <a:prstGeom prst="rect">
            <a:avLst/>
          </a:prstGeom>
          <a:noFill/>
          <a:ln/>
        </p:spPr>
        <p:txBody>
          <a:bodyPr wrap="square" lIns="0" tIns="0" rIns="0" bIns="0" rtlCol="0" anchor="t"/>
          <a:lstStyle/>
          <a:p>
            <a:pPr marL="0" indent="0" algn="l">
              <a:buNone/>
            </a:pPr>
            <a:r>
              <a:rPr lang="en-US" sz="1600" dirty="0">
                <a:solidFill>
                  <a:schemeClr val="bg2"/>
                </a:solidFill>
              </a:rPr>
              <a:t>CampusLoop provides a simple and organized way to manage lost and found items within a college campus. It allows students to report and search for belongings while providing administrators with tools to manage reports. By using React JS, Node.js, Express JS, TiDB Cloud, and Cloudinary, the project brings these activities together in one web application.</a:t>
            </a:r>
            <a:endParaRPr lang="en-US" sz="1600" dirty="0"/>
          </a:p>
        </p:txBody>
      </p:sp>
      <p:sp>
        <p:nvSpPr>
          <p:cNvPr id="4" name="Thank You"/>
          <p:cNvSpPr txBox="1"/>
          <p:nvPr/>
        </p:nvSpPr>
        <p:spPr>
          <a:xfrm>
            <a:off x="2834641" y="3589020"/>
            <a:ext cx="5303520" cy="822960"/>
          </a:xfrm>
          <a:prstGeom prst="rect">
            <a:avLst/>
          </a:prstGeom>
          <a:noFill/>
          <a:ln/>
        </p:spPr>
        <p:txBody>
          <a:bodyPr wrap="square" lIns="0" tIns="0" rIns="0" bIns="0" rtlCol="0" anchor="ctr"/>
          <a:lstStyle/>
          <a:p>
            <a:pPr marL="0" indent="0">
              <a:buNone/>
            </a:pPr>
            <a:r>
              <a:rPr lang="en-US" sz="4400" b="1" dirty="0">
                <a:solidFill>
                  <a:schemeClr val="accent2"/>
                </a:solidFill>
              </a:rPr>
              <a:t>Thank You</a:t>
            </a:r>
            <a:endParaRPr lang="en-US" sz="4400" dirty="0"/>
          </a:p>
        </p:txBody>
      </p:sp>
      <p:sp>
        <p:nvSpPr>
          <p:cNvPr id="5" name="Closing Circle"/>
          <p:cNvSpPr/>
          <p:nvPr/>
        </p:nvSpPr>
        <p:spPr>
          <a:xfrm>
            <a:off x="6309360" y="1280160"/>
            <a:ext cx="2377440" cy="2377440"/>
          </a:xfrm>
          <a:prstGeom prst="ellipse">
            <a:avLst/>
          </a:prstGeom>
          <a:solidFill>
            <a:schemeClr val="accent1"/>
          </a:solidFill>
          <a:ln/>
        </p:spPr>
      </p:sp>
      <p:pic>
        <p:nvPicPr>
          <p:cNvPr id="6" name="Image 0" descr="Check icon"/>
          <p:cNvPicPr>
            <a:picLocks noChangeAspect="1"/>
          </p:cNvPicPr>
          <p:nvPr/>
        </p:nvPicPr>
        <p:blipFill>
          <a:blip r:embed="rId3"/>
          <a:stretch>
            <a:fillRect/>
          </a:stretch>
        </p:blipFill>
        <p:spPr>
          <a:xfrm>
            <a:off x="6995160" y="1965960"/>
            <a:ext cx="1005840" cy="1005840"/>
          </a:xfrm>
          <a:prstGeom prst="rect">
            <a:avLst/>
          </a:prstGeom>
        </p:spPr>
      </p:pic>
    </p:spTree>
  </p:cSld>
  <p:clrMapOvr>
    <a:masterClrMapping/>
  </p:clrMapOvr>
</p:sld>
</file>

<file path=ppt/theme/theme1.xml><?xml version="1.0" encoding="utf-8"?>
<a:theme xmlns:a="http://schemas.openxmlformats.org/drawingml/2006/main" name="CampusLoop">
  <a:themeElements>
    <a:clrScheme name="CampusLoop">
      <a:dk1>
        <a:srgbClr val="16212E"/>
      </a:dk1>
      <a:lt1>
        <a:srgbClr val="FFFFFF"/>
      </a:lt1>
      <a:dk2>
        <a:srgbClr val="0B3C49"/>
      </a:dk2>
      <a:lt2>
        <a:srgbClr val="E8F3F4"/>
      </a:lt2>
      <a:accent1>
        <a:srgbClr val="0E7C86"/>
      </a:accent1>
      <a:accent2>
        <a:srgbClr val="F2A541"/>
      </a:accent2>
      <a:accent3>
        <a:srgbClr val="2F6690"/>
      </a:accent3>
      <a:accent4>
        <a:srgbClr val="81C3D7"/>
      </a:accent4>
      <a:accent5>
        <a:srgbClr val="D9534F"/>
      </a:accent5>
      <a:accent6>
        <a:srgbClr val="5B8C5A"/>
      </a:accent6>
      <a:hlink>
        <a:srgbClr val="0E7C86"/>
      </a:hlink>
      <a:folHlink>
        <a:srgbClr val="2F6690"/>
      </a:folHlink>
    </a:clrScheme>
    <a:fontScheme name="CampusLoo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520</Words>
  <Application>Microsoft Office PowerPoint</Application>
  <PresentationFormat>On-screen Show (16:9)</PresentationFormat>
  <Paragraphs>98</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CampusLoop</vt:lpstr>
      <vt:lpstr>CampusLoop</vt:lpstr>
      <vt:lpstr>Introduction</vt:lpstr>
      <vt:lpstr>Problem Statement</vt:lpstr>
      <vt:lpstr>Objectives</vt:lpstr>
      <vt:lpstr>Technologies Used</vt:lpstr>
      <vt:lpstr>Working of the Project</vt:lpstr>
      <vt:lpstr>Expected Outcome</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CampusLoop – Campus Lost and Found Management System</dc:title>
  <dc:subject>PptxGenJS Presentation</dc:subject>
  <dc:creator>PptxGenJS</dc:creator>
  <cp:lastModifiedBy>Hasini Marella</cp:lastModifiedBy>
  <cp:revision>2</cp:revision>
  <dcterms:created xsi:type="dcterms:W3CDTF">2026-10-29T17:01:29Z</dcterms:created>
  <dcterms:modified xsi:type="dcterms:W3CDTF">2026-10-29T18:03:34Z</dcterms:modified>
</cp:coreProperties>
</file>